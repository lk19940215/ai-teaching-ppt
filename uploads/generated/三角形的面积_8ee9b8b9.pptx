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1. 三角形的面积</a:t>
            </a:r>
          </a:p>
          <a:p>
            <a:pPr>
              <a:defRPr sz="3000"/>
            </a:pPr>
            <a:r>
              <a:t>3. 认识三角形的底和高</a:t>
            </a:r>
          </a:p>
          <a:p>
            <a:pPr>
              <a:defRPr sz="3000"/>
            </a:pPr>
            <a:r>
              <a:t>4. 小心这些“坑”！</a:t>
            </a:r>
          </a:p>
          <a:p>
            <a:pPr>
              <a:defRPr sz="3000"/>
            </a:pPr>
            <a:r>
              <a:t>5. 三角形面积公式推导图</a:t>
            </a:r>
          </a:p>
          <a:p>
            <a:pPr>
              <a:defRPr sz="3000"/>
            </a:pPr>
            <a:r>
              <a:t>6. 变式练习（一）</a:t>
            </a:r>
          </a:p>
          <a:p>
            <a:pPr>
              <a:defRPr sz="3000"/>
            </a:pPr>
            <a:r>
              <a:t>7. 小裁缝的烦恼</a:t>
            </a:r>
          </a:p>
          <a:p>
            <a:pPr>
              <a:defRPr sz="3000"/>
            </a:pPr>
            <a:r>
              <a:t>8. 面积公式的发现（一）</a:t>
            </a:r>
          </a:p>
          <a:p>
            <a:pPr>
              <a:defRPr sz="3000"/>
            </a:pPr>
            <a:r>
              <a:t>9. 变式练习（二）</a:t>
            </a:r>
          </a:p>
          <a:p>
            <a:pPr>
              <a:defRPr sz="3000"/>
            </a:pPr>
            <a:r>
              <a:t>10. 面积公式的发现（二）</a:t>
            </a:r>
          </a:p>
          <a:p>
            <a:pPr>
              <a:defRPr sz="3000"/>
            </a:pPr>
            <a:r>
              <a:t>11. 练一练，我最棒！</a:t>
            </a:r>
          </a:p>
          <a:p>
            <a:pPr>
              <a:defRPr sz="3000"/>
            </a:pPr>
            <a:r>
              <a:t>12. 例题精讲：计算三角形面积</a:t>
            </a:r>
          </a:p>
          <a:p>
            <a:pPr>
              <a:defRPr sz="3000"/>
            </a:pPr>
            <a:r>
              <a:t>13. 课堂小结</a:t>
            </a:r>
          </a:p>
          <a:p>
            <a:pPr>
              <a:defRPr sz="3000"/>
            </a:pPr>
            <a:r>
              <a:t>14. 知识树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498DB"/>
                </a:solidFill>
              </a:defRPr>
            </a:pPr>
            <a:r>
              <a:t>认识三角形的底和高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什么是三角形的底？</a:t>
            </a:r>
          </a:p>
          <a:p>
            <a:pPr>
              <a:defRPr sz="3000"/>
            </a:pPr>
            <a:r>
              <a:t>什么是三角形的高？</a:t>
            </a:r>
          </a:p>
          <a:p>
            <a:pPr>
              <a:defRPr sz="3000"/>
            </a:pPr>
            <a:r>
              <a:t>底和高必须“对应”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6B6B"/>
                </a:solidFill>
              </a:defRPr>
            </a:pPr>
            <a:r>
              <a:t>小心这些“坑”！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3000"/>
            </a:pPr>
            <a:r>
              <a:t>错误：一个三角形底6cm，高4cm，面积=6×4=24(cm)</a:t>
            </a:r>
          </a:p>
          <a:p>
            <a:pPr>
              <a:defRPr sz="28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3000"/>
            </a:pPr>
            <a:r>
              <a:t>忘记了公式中“÷2”这个关键步骤，导致结果扩大了一倍。同时单位“平方厘米”写错。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3000"/>
            </a:pPr>
            <a:r>
              <a:t>面积 = 6 × 4 ÷ 2 = 12 (平方厘米)</a:t>
            </a:r>
          </a:p>
          <a:p>
            <a:pPr>
              <a:defRPr sz="28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3000"/>
            </a:pPr>
            <a:r>
              <a:t>1. 牢记完整公式“底×高÷2”，可以边说边写。2. 面积单位是“平方XX”。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498DB"/>
                </a:solidFill>
              </a:defRPr>
            </a:pPr>
            <a:r>
              <a:t>三角形面积公式推导图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448AFF"/>
                </a:solidFill>
              </a:defRPr>
            </a:pPr>
            <a:r>
              <a:t>变式练习（一）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基础变式：数字变化</a:t>
            </a:r>
          </a:p>
          <a:p>
            <a:pPr>
              <a:defRPr sz="3000"/>
            </a:pPr>
            <a:r>
              <a:t>情境变式：背景变化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小裁缝的烦恼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48AFF"/>
                </a:solidFill>
              </a:defRPr>
            </a:pPr>
            <a:r>
              <a:t>💡 游戏竞赛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3100">
                <a:solidFill>
                  <a:srgbClr val="323232"/>
                </a:solidFill>
              </a:defRPr>
            </a:pPr>
            <a:r>
              <a:t>手工课上，小裁缝要为布偶熊做一面三角形的旗子。他有一块长方形的布料，但不知道需要剪下多大一块三角形布料才够用。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3300" b="1">
                <a:solidFill>
                  <a:srgbClr val="323232"/>
                </a:solidFill>
              </a:defRPr>
            </a:pPr>
            <a:r>
              <a:t>❓ 你能帮小裁缝算一算，这个三角形的旗子需要多大面积的布料吗？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i="1">
                <a:solidFill>
                  <a:srgbClr val="787878"/>
                </a:solidFill>
              </a:defRPr>
            </a:pPr>
            <a:r>
              <a:t>🎨 视觉建议：展示一个长方形布料，上面画着一个三角形旗子的轮廓图。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498DB"/>
                </a:solidFill>
              </a:defRPr>
            </a:pPr>
            <a:r>
              <a:t>面积公式的发现（一）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两个完全一样的三角形可以拼成一个平行四边形</a:t>
            </a:r>
          </a:p>
          <a:p>
            <a:pPr>
              <a:defRPr sz="3000"/>
            </a:pPr>
            <a:r>
              <a:t>平行四边形的面积 = 底 × 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448AFF"/>
                </a:solidFill>
              </a:defRPr>
            </a:pPr>
            <a:r>
              <a:t>变式练习（二）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图形变式：直角三角形</a:t>
            </a:r>
          </a:p>
          <a:p>
            <a:pPr>
              <a:defRPr sz="3000"/>
            </a:pPr>
            <a:r>
              <a:t>综合应用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498DB"/>
                </a:solidFill>
              </a:defRPr>
            </a:pPr>
            <a:r>
              <a:t>面积公式的发现（二）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平行四边形的面积是三角形面积的2倍</a:t>
            </a:r>
          </a:p>
          <a:p>
            <a:pPr>
              <a:defRPr sz="3000"/>
            </a:pPr>
            <a:r>
              <a:t>推导出三角形面积公式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448AFF"/>
                </a:solidFill>
              </a:defRPr>
            </a:pPr>
            <a:r>
              <a:t>练一练，我最棒！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基础巩固</a:t>
            </a:r>
          </a:p>
          <a:p>
            <a:pPr>
              <a:defRPr sz="3000"/>
            </a:pPr>
            <a:r>
              <a:t>能力提升</a:t>
            </a:r>
          </a:p>
          <a:p>
            <a:pPr>
              <a:defRPr sz="3000"/>
            </a:pPr>
            <a:r>
              <a:t>挑战自我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900" b="1">
                <a:solidFill>
                  <a:srgbClr val="27AE60"/>
                </a:solidFill>
              </a:defRPr>
            </a:pPr>
            <a:r>
              <a:t>【★】三角形的面积 = ( ) × ( ) ÷ ( )。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646464"/>
                </a:solidFill>
              </a:defRPr>
            </a:pPr>
            <a:r>
              <a:t>答案：底，高，2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900" b="1">
                <a:solidFill>
                  <a:srgbClr val="27AE60"/>
                </a:solidFill>
              </a:defRPr>
            </a:pPr>
            <a:r>
              <a:t>【★】一个三角形的底是7米，高是4米，它的面积是（ ）平方米。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646464"/>
                </a:solidFill>
              </a:defRPr>
            </a:pPr>
            <a:r>
              <a:t>答案：14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900" b="1">
                <a:solidFill>
                  <a:srgbClr val="FF9F43"/>
                </a:solidFill>
              </a:defRPr>
            </a:pPr>
            <a:r>
              <a:t>【★★】判断：两个面积相等的三角形，一定能拼成一个平行四边形。（ 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900" b="1">
                <a:solidFill>
                  <a:srgbClr val="FF9F43"/>
                </a:solidFill>
              </a:defRPr>
            </a:pPr>
            <a:r>
              <a:t>【★★】一块三角形菜地，底是15米，高是底的2倍。如果每平方米收青菜8千克，这块地一共可以收青菜多少千克？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646464"/>
                </a:solidFill>
              </a:defRPr>
            </a:pPr>
            <a:r>
              <a:t>答案：先求高：15×2=30(米)。再求面积：15×30÷2=225(平方米)。最后求总产量：225×8=1800(千克)。答：可以收1800千克。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900" b="1">
                <a:solidFill>
                  <a:srgbClr val="FF6B6B"/>
                </a:solidFill>
              </a:defRPr>
            </a:pPr>
            <a:r>
              <a:t>【★★★】下图中，长方形的长是10厘米，宽是6厘米。点A、B、C分别是长方形长和宽边上的中点。求阴影部分（三角形ABC）的面积。（配图）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646464"/>
                </a:solidFill>
              </a:defRPr>
            </a:pPr>
            <a:r>
              <a:t>答案：方法一：三角形ABC的底BC=10÷2=5(cm)，高AB=6÷2=3(cm)，面积=5×3÷2=7.5(平方厘米)。方法二：用长方形面积减去周围三个直角三角形的面积。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498DB"/>
                </a:solidFill>
              </a:defRPr>
            </a:pPr>
            <a:r>
              <a:t>例题精讲：计算三角形面积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审题：找出底和高</a:t>
            </a:r>
          </a:p>
          <a:p>
            <a:pPr>
              <a:defRPr sz="3000"/>
            </a:pPr>
            <a:r>
              <a:t>分析：选择公式</a:t>
            </a:r>
          </a:p>
          <a:p>
            <a:pPr>
              <a:defRPr sz="3000"/>
            </a:pPr>
            <a:r>
              <a:t>解题：代入计算</a:t>
            </a:r>
          </a:p>
          <a:p>
            <a:pPr>
              <a:defRPr sz="3000"/>
            </a:pPr>
            <a:r>
              <a:t>反思：检查单位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/>
            </a:pPr>
            <a:r>
              <a:t>本节课我们通过“帮小裁缝”的情境，认识了三角形的底和高，并通过动手拼图，发现了三角形面积的计算公式：面积=底×高÷2。我们学会了用这个公式解决简单的实际问题，并知道了计算的关键是找到对应的底和高。数学思想上，我们体验了“转化”的妙用。</a:t>
            </a:r>
          </a:p>
          <a:p>
            <a:br/>
            <a:pPr>
              <a:defRPr sz="3000" b="1"/>
            </a:pPr>
            <a:r>
              <a:t>重点：</a:t>
            </a:r>
          </a:p>
          <a:p>
            <a:pPr>
              <a:defRPr sz="3000"/>
            </a:pPr>
            <a:r>
              <a:t>• 理解三角形面积公式的推导过程（转化思想：三角形→平行四边形）</a:t>
            </a:r>
          </a:p>
          <a:p>
            <a:pPr>
              <a:defRPr sz="3000"/>
            </a:pPr>
            <a:r>
              <a:t>• 掌握三角形面积的计算方法（S = a×h÷2）</a:t>
            </a:r>
          </a:p>
          <a:p>
            <a:pPr>
              <a:defRPr sz="3000"/>
            </a:pPr>
            <a:r>
              <a:t>• 明确计算三角形面积的关键是找到一组对应的底和高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/>
            </a:pPr>
            <a:r>
              <a:t>本节课我们通过“帮小裁缝”的情境，认识了三角形的底和高，并通过动手拼图，发现了三角形面积的计算公式：面积=底×高÷2。我们学会了用这个公式解决简单的实际问题，并知道了计算的关键是找到对应的底和高。数学思想上，我们体验了“转化”的妙用。</a:t>
            </a:r>
          </a:p>
          <a:p>
            <a:br/>
            <a:pPr>
              <a:defRPr sz="3000" b="1"/>
            </a:pPr>
            <a:r>
              <a:t>重点：</a:t>
            </a:r>
          </a:p>
          <a:p>
            <a:pPr>
              <a:defRPr sz="3000"/>
            </a:pPr>
            <a:r>
              <a:t>• 理解三角形面积公式的推导过程（转化思想：三角形→平行四边形）</a:t>
            </a:r>
          </a:p>
          <a:p>
            <a:pPr>
              <a:defRPr sz="3000"/>
            </a:pPr>
            <a:r>
              <a:t>• 掌握三角形面积的计算方法（S = a×h÷2）</a:t>
            </a:r>
          </a:p>
          <a:p>
            <a:pPr>
              <a:defRPr sz="3000"/>
            </a:pPr>
            <a:r>
              <a:t>• 明确计算三角形面积的关键是找到一组对应的底和高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