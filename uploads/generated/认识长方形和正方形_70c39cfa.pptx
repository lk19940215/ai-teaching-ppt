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498DB"/>
                </a:solidFill>
              </a:defRPr>
            </a:pPr>
            <a:r>
              <a:t>认识长方形和正方形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/>
            </a:pPr>
            <a:r>
              <a:t>1. 认识长方形和正方形</a:t>
            </a:r>
          </a:p>
          <a:p>
            <a:pPr>
              <a:defRPr sz="3000"/>
            </a:pPr>
            <a:r>
              <a:t>3. 认识新朋友：长方形</a:t>
            </a:r>
          </a:p>
          <a:p>
            <a:pPr>
              <a:defRPr sz="3000"/>
            </a:pPr>
            <a:r>
              <a:t>4. 小心陷阱！</a:t>
            </a:r>
          </a:p>
          <a:p>
            <a:pPr>
              <a:defRPr sz="3000"/>
            </a:pPr>
            <a:r>
              <a:t>5. 长方形和正方形是好朋友</a:t>
            </a:r>
          </a:p>
          <a:p>
            <a:pPr>
              <a:defRPr sz="3000"/>
            </a:pPr>
            <a:r>
              <a:t>6. 动手画一画（★）</a:t>
            </a:r>
          </a:p>
          <a:p>
            <a:pPr>
              <a:defRPr sz="3000"/>
            </a:pPr>
            <a:r>
              <a:t>7. 小熊搭积木</a:t>
            </a:r>
          </a:p>
          <a:p>
            <a:pPr>
              <a:defRPr sz="3000"/>
            </a:pPr>
            <a:r>
              <a:t>8. 认识新朋友：正方形</a:t>
            </a:r>
          </a:p>
          <a:p>
            <a:pPr>
              <a:defRPr sz="3000"/>
            </a:pPr>
            <a:r>
              <a:t>9. 火眼金睛（★★）</a:t>
            </a:r>
          </a:p>
          <a:p>
            <a:pPr>
              <a:defRPr sz="3000"/>
            </a:pPr>
            <a:r>
              <a:t>10. 例题：帮图形找家</a:t>
            </a:r>
          </a:p>
          <a:p>
            <a:pPr>
              <a:defRPr sz="3000"/>
            </a:pPr>
            <a:r>
              <a:t>11. 创意拼图（★★★）</a:t>
            </a:r>
          </a:p>
          <a:p>
            <a:pPr>
              <a:defRPr sz="3000"/>
            </a:pPr>
            <a:r>
              <a:t>12. 巩固练习</a:t>
            </a:r>
          </a:p>
          <a:p>
            <a:pPr>
              <a:defRPr sz="3000"/>
            </a:pPr>
            <a:r>
              <a:t>13. 课堂小结</a:t>
            </a:r>
          </a:p>
          <a:p>
            <a:pPr>
              <a:defRPr sz="3000"/>
            </a:pPr>
            <a:r>
              <a:t>14. 课后小挑战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3498DB"/>
                </a:solidFill>
              </a:defRPr>
            </a:pPr>
            <a:r>
              <a:t>认识新朋友：长方形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/>
            </a:pPr>
            <a:r>
              <a:t>长方形有四条直直的边。</a:t>
            </a:r>
          </a:p>
          <a:p>
            <a:pPr>
              <a:defRPr sz="3000"/>
            </a:pPr>
            <a:r>
              <a:t>长方形有四个角，都是方方的（直角）。</a:t>
            </a:r>
          </a:p>
          <a:p>
            <a:pPr>
              <a:defRPr sz="3000"/>
            </a:pPr>
            <a:r>
              <a:t>长方形相对的两条边一样长。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6B6B"/>
                </a:solidFill>
              </a:defRPr>
            </a:pPr>
            <a:r>
              <a:t>小心陷阱！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3000"/>
            </a:pPr>
            <a:r>
              <a:t>错误：认为“四条边都相等”的图形就是正方形。</a:t>
            </a:r>
          </a:p>
          <a:p>
            <a:pPr>
              <a:defRPr sz="28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3000"/>
            </a:pPr>
            <a:r>
              <a:t>只记住了边的关系，忘记了角也必须都是直角。菱形也四条边相等，但不是正方形。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3000"/>
            </a:pPr>
            <a:r>
              <a:t>判断正方形必须同时满足两个条件：1. 四个角都是直角；2. 四条边都相等。</a:t>
            </a:r>
          </a:p>
          <a:p>
            <a:pPr>
              <a:defRPr sz="28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3000"/>
            </a:pPr>
            <a:r>
              <a:t>记图形特征要记全，可以编口诀：“长方形：对边相等四直角；正方形：四边相等四直角。”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3498DB"/>
                </a:solidFill>
              </a:defRPr>
            </a:pPr>
            <a:r>
              <a:t>长方形和正方形是好朋友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448AFF"/>
                </a:solidFill>
              </a:defRPr>
            </a:pPr>
            <a:r>
              <a:t>动手画一画（★）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/>
            </a:pPr>
            <a:r>
              <a:t>请在点子图上画一个长方形和一个正方形。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小熊搭积木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48AFF"/>
                </a:solidFill>
              </a:defRPr>
            </a:pPr>
            <a:r>
              <a:t>💡 游戏竞赛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3100">
                <a:solidFill>
                  <a:srgbClr val="323232"/>
                </a:solidFill>
              </a:defRPr>
            </a:pPr>
            <a:r>
              <a:t>小熊正在用积木搭建一座小房子，它需要一些方方正正的积木来做门和窗户。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3300" b="1">
                <a:solidFill>
                  <a:srgbClr val="323232"/>
                </a:solidFill>
              </a:defRPr>
            </a:pPr>
            <a:r>
              <a:t>❓ 你能帮小熊从一堆积木中，找出哪些是方方正正、可以当门和窗户的吗？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i="1">
                <a:solidFill>
                  <a:srgbClr val="787878"/>
                </a:solidFill>
              </a:defRPr>
            </a:pPr>
            <a:r>
              <a:t>🎨 视觉建议：展示小熊搭积木的场景图，旁边散落着各种形状的积木（长方形、正方形、三角形、圆形等）。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3498DB"/>
                </a:solidFill>
              </a:defRPr>
            </a:pPr>
            <a:r>
              <a:t>认识新朋友：正方形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/>
            </a:pPr>
            <a:r>
              <a:t>正方形也有四条直直的边。</a:t>
            </a:r>
          </a:p>
          <a:p>
            <a:pPr>
              <a:defRPr sz="3000"/>
            </a:pPr>
            <a:r>
              <a:t>正方形也有四个方方的角（直角）。</a:t>
            </a:r>
          </a:p>
          <a:p>
            <a:pPr>
              <a:defRPr sz="3000"/>
            </a:pPr>
            <a:r>
              <a:t>正方形的四条边都一样长。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448AFF"/>
                </a:solidFill>
              </a:defRPr>
            </a:pPr>
            <a:r>
              <a:t>火眼金睛（★★）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/>
            </a:pPr>
            <a:r>
              <a:t>下面的说法对吗？说说你的理由。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3498DB"/>
                </a:solidFill>
              </a:defRPr>
            </a:pPr>
            <a:r>
              <a:t>例题：帮图形找家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/>
            </a:pPr>
            <a:r>
              <a:t>下面哪些图形是长方形？哪些是正方形？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448AFF"/>
                </a:solidFill>
              </a:defRPr>
            </a:pPr>
            <a:r>
              <a:t>创意拼图（★★★）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/>
            </a:pPr>
            <a:r>
              <a:t>用长方形和正方形拼出新的图案。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448AFF"/>
                </a:solidFill>
              </a:defRPr>
            </a:pPr>
            <a:r>
              <a:t>巩固练习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/>
            </a:pPr>
            <a:r>
              <a:t>一起来挑战吧！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900" b="1">
                <a:solidFill>
                  <a:srgbClr val="27AE60"/>
                </a:solidFill>
              </a:defRPr>
            </a:pPr>
            <a:r>
              <a:t>【★】长方形有（ ）条边，（ ）个角，这些角都是（ ）角。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646464"/>
                </a:solidFill>
              </a:defRPr>
            </a:pPr>
            <a:r>
              <a:t>答案：4， 4， 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900" b="1">
                <a:solidFill>
                  <a:srgbClr val="27AE60"/>
                </a:solidFill>
              </a:defRPr>
            </a:pPr>
            <a:r>
              <a:t>【★】正方形的（ ）条边都相等。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646464"/>
                </a:solidFill>
              </a:defRPr>
            </a:pPr>
            <a:r>
              <a:t>答案：4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900" b="1">
                <a:solidFill>
                  <a:srgbClr val="FF9F43"/>
                </a:solidFill>
              </a:defRPr>
            </a:pPr>
            <a:r>
              <a:t>【★★】判断：正方形是特殊的长方形。（ 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646464"/>
                </a:solidFill>
              </a:defRPr>
            </a:pPr>
            <a:r>
              <a:t>答案：√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900" b="1">
                <a:solidFill>
                  <a:srgbClr val="FF9F43"/>
                </a:solidFill>
              </a:defRPr>
            </a:pPr>
            <a:r>
              <a:t>【★★】一个四边形，它的对边相等，四个角都是直角，这个图形是（ ）。A. 正方形 B. 长方形 C. 无法确定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646464"/>
                </a:solidFill>
              </a:defRPr>
            </a:pPr>
            <a:r>
              <a:t>答案：B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900" b="1">
                <a:solidFill>
                  <a:srgbClr val="FF6B6B"/>
                </a:solidFill>
              </a:defRPr>
            </a:pPr>
            <a:r>
              <a:t>【★★★】找一找：教室里有哪些物体的面是长方形或正方形的？至少各说出两个。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646464"/>
                </a:solidFill>
              </a:defRPr>
            </a:pPr>
            <a:r>
              <a:t>答案：答案不唯一。例如：黑板面、课本封面是长方形；地砖面、开关面板可能是正方形。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/>
            </a:pPr>
            <a:r>
              <a:t>本节课我们从“小熊搭积木”的情境出发，通过观察、比较、动手操作，认识了长方形和正方形的特征，知道了正方形是特殊的长方形。我们学会了用“边、角、边的关系”三步法来判断图形，并能在生活中找到它们的身影。数学就在我们身边！</a:t>
            </a:r>
          </a:p>
          <a:p>
            <a:br/>
            <a:pPr>
              <a:defRPr sz="3000" b="1"/>
            </a:pPr>
            <a:r>
              <a:t>重点：</a:t>
            </a:r>
          </a:p>
          <a:p>
            <a:pPr>
              <a:defRPr sz="3000"/>
            </a:pPr>
            <a:r>
              <a:t>• 长方形的特征：对边相等，四个直角。</a:t>
            </a:r>
          </a:p>
          <a:p>
            <a:pPr>
              <a:defRPr sz="3000"/>
            </a:pPr>
            <a:r>
              <a:t>• 正方形的特征：四边相等，四个直角。</a:t>
            </a:r>
          </a:p>
          <a:p>
            <a:pPr>
              <a:defRPr sz="3000"/>
            </a:pPr>
            <a:r>
              <a:t>• 正方形是特殊的长方形。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448AFF"/>
                </a:solidFill>
              </a:defRPr>
            </a:pPr>
            <a:r>
              <a:t>课后小挑战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/>
            </a:pPr>
            <a:r>
              <a:t>选做：发挥你的创造力！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900" b="1">
                <a:solidFill>
                  <a:srgbClr val="FF6B6B"/>
                </a:solidFill>
              </a:defRPr>
            </a:pPr>
            <a:r>
              <a:t>【★★★】【创意设计】请你当小小设计师，用长方形和正方形为主要图形，设计一个你喜欢的图案（如机器人、小房子等），并涂上颜色。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646464"/>
                </a:solidFill>
              </a:defRPr>
            </a:pPr>
            <a:r>
              <a:t>答案：（开放性答案，无标准答案）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