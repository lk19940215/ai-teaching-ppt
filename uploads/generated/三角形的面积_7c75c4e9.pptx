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3498DB"/>
                </a:solidFill>
              </a:defRPr>
            </a:pPr>
            <a:r>
              <a:t>三角形的面积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448AFF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1. 三角形的面积</a:t>
            </a:r>
          </a:p>
          <a:p>
            <a:pPr>
              <a:defRPr sz="2400"/>
            </a:pPr>
            <a:r>
              <a:t>3. 认识三角形</a:t>
            </a:r>
          </a:p>
          <a:p>
            <a:pPr>
              <a:defRPr sz="2400"/>
            </a:pPr>
            <a:r>
              <a:t>4. 常见错误分析</a:t>
            </a:r>
          </a:p>
          <a:p>
            <a:pPr>
              <a:defRPr sz="2400"/>
            </a:pPr>
            <a:r>
              <a:t>5. 变式练习</a:t>
            </a:r>
          </a:p>
          <a:p>
            <a:pPr>
              <a:defRPr sz="2400"/>
            </a:pPr>
            <a:r>
              <a:t>6. 校园里的数学</a:t>
            </a:r>
          </a:p>
          <a:p>
            <a:pPr>
              <a:defRPr sz="2400"/>
            </a:pPr>
            <a:r>
              <a:t>7. 面积公式的探索（一）</a:t>
            </a:r>
          </a:p>
          <a:p>
            <a:pPr>
              <a:defRPr sz="2400"/>
            </a:pPr>
            <a:r>
              <a:t>8. 巩固练习</a:t>
            </a:r>
          </a:p>
          <a:p>
            <a:pPr>
              <a:defRPr sz="2400"/>
            </a:pPr>
            <a:r>
              <a:t>9. 面积公式的探索（二）</a:t>
            </a:r>
          </a:p>
          <a:p>
            <a:pPr>
              <a:defRPr sz="2400"/>
            </a:pPr>
            <a:r>
              <a:t>10. 例题精讲</a:t>
            </a:r>
          </a:p>
          <a:p>
            <a:pPr>
              <a:defRPr sz="2400"/>
            </a:pPr>
            <a:r>
              <a:t>11. 课堂小结</a:t>
            </a:r>
          </a:p>
          <a:p>
            <a:pPr>
              <a:defRPr sz="2400"/>
            </a:pPr>
            <a:r>
              <a:t>12. 知识框架</a:t>
            </a:r>
          </a:p>
          <a:p>
            <a:pPr>
              <a:defRPr sz="2400"/>
            </a:pPr>
            <a:r>
              <a:t>13. 课后思考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认识三角形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三角形是由三条线段围成的封闭图形</a:t>
            </a:r>
          </a:p>
          <a:p>
            <a:pPr>
              <a:defRPr sz="2400"/>
            </a:pPr>
            <a:r>
              <a:t>每个三角形都有三条边和三个角</a:t>
            </a:r>
          </a:p>
          <a:p>
            <a:pPr>
              <a:defRPr sz="2400"/>
            </a:pPr>
            <a:r>
              <a:t>三角形的面积是指它所占平面的大小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6B6B"/>
                </a:solidFill>
              </a:defRPr>
            </a:pPr>
            <a:r>
              <a:t>常见错误分析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6B6B"/>
                </a:solidFill>
              </a:defRPr>
            </a:pPr>
            <a:r>
              <a:t>❌ 常见错误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657600" cy="41148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FF6B6B"/>
                </a:solidFill>
              </a:defRPr>
            </a:pPr>
            <a:r>
              <a:t>【错误示例】</a:t>
            </a:r>
          </a:p>
          <a:p>
            <a:pPr>
              <a:spcAft>
                <a:spcPts val="800"/>
              </a:spcAft>
              <a:defRPr sz="2400"/>
            </a:pPr>
            <a:r>
              <a:t>计算三角形面积时，直接算成底×高，如：8×5=40（平方厘米）</a:t>
            </a:r>
          </a:p>
          <a:p>
            <a:pPr>
              <a:defRPr sz="2200" b="1">
                <a:solidFill>
                  <a:srgbClr val="FF6B6B"/>
                </a:solidFill>
              </a:defRPr>
            </a:pPr>
            <a:r>
              <a:t>【错误原因】</a:t>
            </a:r>
          </a:p>
          <a:p>
            <a:pPr>
              <a:defRPr sz="2400"/>
            </a:pPr>
            <a:r>
              <a:t>将三角形面积公式与平行四边形面积公式记混，忽略了三角形面积是等底等高平行四边形面积的一半。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43A047"/>
                </a:solidFill>
              </a:defRPr>
            </a:pPr>
            <a:r>
              <a:t>✓ 正确方法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645920"/>
            <a:ext cx="3657600" cy="41148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43A047"/>
                </a:solidFill>
              </a:defRPr>
            </a:pPr>
            <a:r>
              <a:t>【正确解法】</a:t>
            </a:r>
          </a:p>
          <a:p>
            <a:pPr>
              <a:spcAft>
                <a:spcPts val="800"/>
              </a:spcAft>
              <a:defRPr sz="2400"/>
            </a:pPr>
            <a:r>
              <a:t>三角形面积 = 底 × 高 ÷ 2，正确计算：8×5÷2=20（平方厘米）</a:t>
            </a:r>
          </a:p>
          <a:p>
            <a:pPr>
              <a:defRPr sz="2200" b="1">
                <a:solidFill>
                  <a:srgbClr val="43A047"/>
                </a:solidFill>
              </a:defRPr>
            </a:pPr>
            <a:r>
              <a:t>【预防策略】</a:t>
            </a:r>
          </a:p>
          <a:p>
            <a:pPr>
              <a:defRPr sz="2400"/>
            </a:pPr>
            <a:r>
              <a:t>1. 理解公式推导过程，明白为什么要除以2。2. 做题时先在草稿上写出完整公式再代入计算。3. 用“底乘高除以2”的口诀帮助记忆。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5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变式练习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基础变式：改变数字，巩固公式</a:t>
            </a:r>
          </a:p>
          <a:p>
            <a:pPr>
              <a:defRPr sz="2400"/>
            </a:pPr>
            <a:r>
              <a:t>情境变式：结合实际问题</a:t>
            </a:r>
          </a:p>
          <a:p>
            <a:pPr>
              <a:defRPr sz="2400"/>
            </a:pPr>
            <a:r>
              <a:t>逆向变式：已知面积求底或高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6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498DB"/>
                </a:solidFill>
              </a:defRPr>
            </a:pPr>
            <a:r>
              <a:t>校园里的数学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48AFF"/>
                </a:solidFill>
              </a:defRPr>
            </a:pPr>
            <a:r>
              <a:t>💡 建筑设计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solidFill>
            <a:srgbClr val="3498D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500">
                <a:solidFill>
                  <a:srgbClr val="323232"/>
                </a:solidFill>
              </a:defRPr>
            </a:pPr>
            <a:r>
              <a:t>学校有一块三角形花坛，需要计算面积来购买草皮进行绿化。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solidFill>
            <a:srgbClr val="448AFF"/>
          </a:solidFill>
          <a:ln w="38100">
            <a:solidFill>
              <a:srgbClr val="44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700" b="1">
                <a:solidFill>
                  <a:srgbClr val="323232"/>
                </a:solidFill>
              </a:defRPr>
            </a:pPr>
            <a:r>
              <a:t>❓ 你能想办法求出这块三角形花坛的面积吗？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i="1">
                <a:solidFill>
                  <a:srgbClr val="787878"/>
                </a:solidFill>
              </a:defRPr>
            </a:pPr>
            <a:r>
              <a:t>🎨 视觉建议：校园平面图上突出显示三角形花坛，并标注底边长度和高的长度。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7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面积公式的探索（一）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思考：我们学过长方形和正方形的面积计算，三角形面积能否转化？</a:t>
            </a:r>
          </a:p>
          <a:p>
            <a:pPr>
              <a:defRPr sz="2400"/>
            </a:pPr>
            <a:r>
              <a:t>活动：用两个完全一样的三角形拼一拼</a:t>
            </a:r>
          </a:p>
          <a:p>
            <a:pPr>
              <a:defRPr sz="2400"/>
            </a:pPr>
            <a:r>
              <a:t>发现：两个完全一样的三角形可以拼成一个平行四边形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8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巩固练习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请独立完成以下练习，检验学习成果</a:t>
            </a:r>
          </a:p>
          <a:p>
            <a:pPr>
              <a:defRPr sz="2400"/>
            </a:pPr>
            <a:r>
              <a:t>注意书写规范和单位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【★】一个三角形的底是10分米，高是6分米，面积是______平方分米。【记忆】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【★】判断：两个面积相等的三角形，一定可以拼成一个平行四边形。【理解】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答案：错误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【★】计算下面三角形的面积。（配图：一个直角三角形，两条直角边分别长7cm和5cm，其中一条直角边作为底，另一条作为高）【应用】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答案：面积 = 7 × 5 ÷ 2 = 17.5（平方厘米）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【★★】一块三角形指示牌，底是40厘米，高是25厘米。如果要给这块指示牌正反两面都刷上油漆，每平方厘米需要油漆0.02克，一共需要多少克油漆？【应用】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39495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答案：先求一面面积：40×25÷2=500（平方厘米）；两面面积：500×2=1000（平方厘米）；需油漆：1000×0.02=20（克）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52159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6B6B"/>
                </a:solidFill>
              </a:defRPr>
            </a:pPr>
            <a:r>
              <a:t>【★★★】下图中，长方形ABCD的长是12厘米，宽是8厘米。三角形ABE的面积是多少平方厘米？（配图：长方形ABCD，点E在CD边上，连接AE和BE，形成三角形ABE）【分析】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640079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答案：三角形ABE的底AB=12厘米，高是BC=8厘米（因为E在CD上，所以高就是长方形的宽）。面积=12×8÷2=48（平方厘米）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8" presetID="8" presetClass="entr" presetSubtype="0" fill="hold" nodeType="mainSeq">
          <p:dur val="400"/>
          <p:stM val="3500"/>
          <p:childTnLst>
            <ns2:parTimeNode id="107" fill="hold">
              <ns2:dur val="400"/>
              <ns2:stM val="0"/>
              <p:childTnLst>
                <ns2:setTimeNode id="207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9" presetID="8" presetClass="entr" presetSubtype="0" fill="hold" nodeType="mainSeq">
          <p:dur val="400"/>
          <p:stM val="4000"/>
          <p:childTnLst>
            <ns2:parTimeNode id="108" fill="hold">
              <ns2:dur val="400"/>
              <ns2:stM val="0"/>
              <p:childTnLst>
                <ns2:setTimeNode id="208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0" presetID="8" presetClass="entr" presetSubtype="0" fill="hold" nodeType="mainSeq">
          <p:dur val="400"/>
          <p:stM val="4500"/>
          <p:childTnLst>
            <ns2:parTimeNode id="109" fill="hold">
              <ns2:dur val="400"/>
              <ns2:stM val="0"/>
              <p:childTnLst>
                <ns2:setTimeNode id="209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1" presetID="8" presetClass="entr" presetSubtype="0" fill="hold" nodeType="mainSeq">
          <p:dur val="400"/>
          <p:stM val="5000"/>
          <p:childTnLst>
            <ns2:parTimeNode id="110" fill="hold">
              <ns2:dur val="400"/>
              <ns2:stM val="0"/>
              <p:childTnLst>
                <ns2:setTimeNode id="21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2" presetID="8" presetClass="entr" presetSubtype="0" fill="hold" nodeType="mainSeq">
          <p:dur val="400"/>
          <p:stM val="5500"/>
          <p:childTnLst>
            <ns2:parTimeNode id="111" fill="hold">
              <ns2:dur val="400"/>
              <ns2:stM val="0"/>
              <p:childTnLst>
                <ns2:setTimeNode id="21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3" presetID="8" presetClass="entr" presetSubtype="0" fill="hold" nodeType="mainSeq">
          <p:dur val="400"/>
          <p:stM val="6000"/>
          <p:childTnLst>
            <ns2:parTimeNode id="112" fill="hold">
              <ns2:dur val="400"/>
              <ns2:stM val="0"/>
              <p:childTnLst>
                <ns2:setTimeNode id="21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9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面积公式的探索（二）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推理：拼成的平行四边形面积是三角形面积的2倍</a:t>
            </a:r>
          </a:p>
          <a:p>
            <a:pPr>
              <a:defRPr sz="2400"/>
            </a:pPr>
            <a:r>
              <a:t>结论：三角形面积 = 平行四边形面积 ÷ 2</a:t>
            </a:r>
          </a:p>
          <a:p>
            <a:pPr>
              <a:defRPr sz="2400"/>
            </a:pPr>
            <a:r>
              <a:t>公式：三角形面积 = 底 × 高 ÷ 2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0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例题精讲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题目：一个三角形的底是8厘米，高是5厘米，它的面积是多少平方厘米？</a:t>
            </a:r>
          </a:p>
          <a:p>
            <a:pPr>
              <a:defRPr sz="2400"/>
            </a:pPr>
            <a:r>
              <a:t>审题：已知底=8cm，高=5cm，求面积</a:t>
            </a:r>
          </a:p>
          <a:p>
            <a:pPr>
              <a:defRPr sz="2400"/>
            </a:pPr>
            <a:r>
              <a:t>分析：直接应用三角形面积公式</a:t>
            </a:r>
          </a:p>
          <a:p>
            <a:pPr>
              <a:defRPr sz="2400"/>
            </a:pPr>
            <a:r>
              <a:t>解题：S = 8 × 5 ÷ 2 = 20（平方厘米）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3498DB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/>
            </a:pPr>
            <a:r>
              <a:t>本节课我们学习了三角形的面积公式 S = a × h ÷ 2。通过拼图活动，我们发现了两个完全一样的三角形可以拼成一个平行四边形，从而推导出公式。我们不仅要记住公式，更要理解公式的由来。在应用公式时，要注意底和高的对应关系，并正确计算和书写单位。数学源于生活，又服务于生活，希望大家能用今天所学的知识解决更多实际问题。</a:t>
            </a:r>
          </a:p>
          <a:p>
            <a:br/>
            <a:pPr>
              <a:defRPr sz="2400" b="1"/>
            </a:pPr>
            <a:r>
              <a:t>重点：</a:t>
            </a:r>
          </a:p>
          <a:p>
            <a:pPr>
              <a:defRPr sz="2400"/>
            </a:pPr>
            <a:r>
              <a:t>• 三角形面积公式：底×高÷2</a:t>
            </a:r>
          </a:p>
          <a:p>
            <a:pPr>
              <a:defRPr sz="2400"/>
            </a:pPr>
            <a:r>
              <a:t>• 公式的推导过程：两个完全一样的三角形拼成一个平行四边形</a:t>
            </a:r>
          </a:p>
          <a:p>
            <a:pPr>
              <a:defRPr sz="2400"/>
            </a:pPr>
            <a:r>
              <a:t>• 计算时，底和高必须对应</a:t>
            </a:r>
          </a:p>
          <a:p>
            <a:pPr>
              <a:defRPr sz="2400"/>
            </a:pPr>
            <a:r>
              <a:t>• 结果要带面积单位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3498DB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/>
            </a:pPr>
            <a:r>
              <a:t>本节课我们学习了三角形的面积公式 S = a × h ÷ 2。通过拼图活动，我们发现了两个完全一样的三角形可以拼成一个平行四边形，从而推导出公式。我们不仅要记住公式，更要理解公式的由来。在应用公式时，要注意底和高的对应关系，并正确计算和书写单位。数学源于生活，又服务于生活，希望大家能用今天所学的知识解决更多实际问题。</a:t>
            </a:r>
          </a:p>
          <a:p>
            <a:br/>
            <a:pPr>
              <a:defRPr sz="2400" b="1"/>
            </a:pPr>
            <a:r>
              <a:t>重点：</a:t>
            </a:r>
          </a:p>
          <a:p>
            <a:pPr>
              <a:defRPr sz="2400"/>
            </a:pPr>
            <a:r>
              <a:t>• 三角形面积公式：底×高÷2</a:t>
            </a:r>
          </a:p>
          <a:p>
            <a:pPr>
              <a:defRPr sz="2400"/>
            </a:pPr>
            <a:r>
              <a:t>• 公式的推导过程：两个完全一样的三角形拼成一个平行四边形</a:t>
            </a:r>
          </a:p>
          <a:p>
            <a:pPr>
              <a:defRPr sz="2400"/>
            </a:pPr>
            <a:r>
              <a:t>• 计算时，底和高必须对应</a:t>
            </a:r>
          </a:p>
          <a:p>
            <a:pPr>
              <a:defRPr sz="2400"/>
            </a:pPr>
            <a:r>
              <a:t>• 结果要带面积单位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3498DB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/>
            </a:pPr>
            <a:r>
              <a:t>本节课我们学习了三角形的面积公式 S = a × h ÷ 2。通过拼图活动，我们发现了两个完全一样的三角形可以拼成一个平行四边形，从而推导出公式。我们不仅要记住公式，更要理解公式的由来。在应用公式时，要注意底和高的对应关系，并正确计算和书写单位。数学源于生活，又服务于生活，希望大家能用今天所学的知识解决更多实际问题。</a:t>
            </a:r>
          </a:p>
          <a:p>
            <a:br/>
            <a:pPr>
              <a:defRPr sz="2400" b="1"/>
            </a:pPr>
            <a:r>
              <a:t>重点：</a:t>
            </a:r>
          </a:p>
          <a:p>
            <a:pPr>
              <a:defRPr sz="2400"/>
            </a:pPr>
            <a:r>
              <a:t>• 三角形面积公式：底×高÷2</a:t>
            </a:r>
          </a:p>
          <a:p>
            <a:pPr>
              <a:defRPr sz="2400"/>
            </a:pPr>
            <a:r>
              <a:t>• 公式的推导过程：两个完全一样的三角形拼成一个平行四边形</a:t>
            </a:r>
          </a:p>
          <a:p>
            <a:pPr>
              <a:defRPr sz="2400"/>
            </a:pPr>
            <a:r>
              <a:t>• 计算时，底和高必须对应</a:t>
            </a:r>
          </a:p>
          <a:p>
            <a:pPr>
              <a:defRPr sz="2400"/>
            </a:pPr>
            <a:r>
              <a:t>• 结果要带面积单位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