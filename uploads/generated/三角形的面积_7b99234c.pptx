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ns2="%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3400" b="1">
                <a:solidFill>
                  <a:srgbClr val="3498DB"/>
                </a:solidFill>
              </a:defRPr>
            </a:pPr>
            <a:r>
              <a:t>三角形的面积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3657600"/>
            <a:ext cx="548640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400">
                <a:solidFill>
                  <a:srgbClr val="808080"/>
                </a:solidFill>
              </a:defRPr>
            </a:pPr>
            <a:r>
              <a:t>AI 教学 PPT 生成器</a:t>
            </a:r>
          </a:p>
        </p:txBody>
      </p:sp>
    </p:spTree>
    <p:transition spd="600">
      <p:push/>
    </p:transition>
    <p:timing>
      <p:timeNodeList>
        <p:parTimeNode id="1" presetID="8" presetClass="entr" presetSubtype="0" fill="hold" nodeType="mainSeq">
          <p:dur val="400"/>
          <p:stM val="0"/>
          <p:childTnLst>
            <ns2:parTimeNode id="100" fill="hold">
              <ns2:dur val="400"/>
              <ns2:stM val="0"/>
              <p:childTnLst>
                <ns2:setTimeNode id="20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2" presetID="8" presetClass="entr" presetSubtype="0" fill="hold" nodeType="mainSeq">
          <p:dur val="400"/>
          <p:stM val="500"/>
          <p:childTnLst>
            <ns2:parTimeNode id="101" fill="hold">
              <ns2:dur val="400"/>
              <ns2:stM val="0"/>
              <p:childTnLst>
                <ns2:setTimeNode id="20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</p:timeNodeList>
    </p:timing>
  </p:cSld>
  <p:clrMapOvr>
    <a:masterClrMapping/>
  </p:clrMapOvr>
</p:sld>
</file>

<file path=ppt/slides/slide2.xml><?xml version="1.0" encoding="utf-8"?>
<p:sld xmlns:a="http://schemas.openxmlformats.org/drawingml/2006/main" xmlns:ns2="%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>
                <a:solidFill>
                  <a:srgbClr val="448AFF"/>
                </a:solidFill>
              </a:defRPr>
            </a:pPr>
            <a:r>
              <a:t>目录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  <a:p>
            <a:pPr>
              <a:defRPr sz="2400"/>
            </a:pPr>
            <a:r>
              <a:t>1. 三角形的面积</a:t>
            </a:r>
          </a:p>
          <a:p>
            <a:pPr>
              <a:defRPr sz="2400"/>
            </a:pPr>
            <a:r>
              <a:t>3. 认识三角形</a:t>
            </a:r>
          </a:p>
          <a:p>
            <a:pPr>
              <a:defRPr sz="2400"/>
            </a:pPr>
            <a:r>
              <a:t>4. 常见错误与预防</a:t>
            </a:r>
          </a:p>
          <a:p>
            <a:pPr>
              <a:defRPr sz="2400"/>
            </a:pPr>
            <a:r>
              <a:t>5. 变式练习一：基础变式</a:t>
            </a:r>
          </a:p>
          <a:p>
            <a:pPr>
              <a:defRPr sz="2400"/>
            </a:pPr>
            <a:r>
              <a:t>6. 校园绿化设计师</a:t>
            </a:r>
          </a:p>
          <a:p>
            <a:pPr>
              <a:defRPr sz="2400"/>
            </a:pPr>
            <a:r>
              <a:t>7. 从拼图中发现公式</a:t>
            </a:r>
          </a:p>
          <a:p>
            <a:pPr>
              <a:defRPr sz="2400"/>
            </a:pPr>
            <a:r>
              <a:t>8. 变式练习二：情境变式</a:t>
            </a:r>
          </a:p>
          <a:p>
            <a:pPr>
              <a:defRPr sz="2400"/>
            </a:pPr>
            <a:r>
              <a:t>9. 公式表示与理解</a:t>
            </a:r>
          </a:p>
          <a:p>
            <a:pPr>
              <a:defRPr sz="2400"/>
            </a:pPr>
            <a:r>
              <a:t>10. 变式练习三：逆向与综合变式</a:t>
            </a:r>
          </a:p>
          <a:p>
            <a:pPr>
              <a:defRPr sz="2400"/>
            </a:pPr>
            <a:r>
              <a:t>11. 例题：计算三角形花坛面积</a:t>
            </a:r>
          </a:p>
          <a:p>
            <a:pPr>
              <a:defRPr sz="2400"/>
            </a:pPr>
            <a:r>
              <a:t>12. 课堂练习</a:t>
            </a:r>
          </a:p>
          <a:p>
            <a:pPr>
              <a:defRPr sz="2400"/>
            </a:pPr>
            <a:r>
              <a:t>13. 课堂小结</a:t>
            </a:r>
          </a:p>
          <a:p>
            <a:pPr>
              <a:defRPr sz="2400"/>
            </a:pPr>
            <a:r>
              <a:t>14. 课后思考</a:t>
            </a:r>
          </a:p>
        </p:txBody>
      </p:sp>
    </p:spTree>
    <p:transition spd="600">
      <p:push/>
    </p:transition>
    <p:timing>
      <p:timeNodeList>
        <p:parTimeNode id="1" presetID="8" presetClass="entr" presetSubtype="0" fill="hold" nodeType="mainSeq">
          <p:dur val="400"/>
          <p:stM val="0"/>
          <p:childTnLst>
            <ns2:parTimeNode id="100" fill="hold">
              <ns2:dur val="400"/>
              <ns2:stM val="0"/>
              <p:childTnLst>
                <ns2:setTimeNode id="20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2" presetID="8" presetClass="entr" presetSubtype="0" fill="hold" nodeType="mainSeq">
          <p:dur val="400"/>
          <p:stM val="500"/>
          <p:childTnLst>
            <ns2:parTimeNode id="101" fill="hold">
              <ns2:dur val="400"/>
              <ns2:stM val="0"/>
              <p:childTnLst>
                <ns2:setTimeNode id="20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</p:timeNodeList>
    </p:timing>
  </p:cSld>
  <p:clrMapOvr>
    <a:masterClrMapping/>
  </p:clrMapOvr>
</p:sld>
</file>

<file path=ppt/slides/slide3.xml><?xml version="1.0" encoding="utf-8"?>
<p:sld xmlns:a="http://schemas.openxmlformats.org/drawingml/2006/main" xmlns:ns2="%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>
                <a:solidFill>
                  <a:srgbClr val="3498DB"/>
                </a:solidFill>
              </a:defRPr>
            </a:pPr>
            <a:r>
              <a:t>认识三角形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  <a:p>
            <a:pPr>
              <a:defRPr sz="2400"/>
            </a:pPr>
            <a:r>
              <a:t>三角形是由三条线段围成的封闭图形</a:t>
            </a:r>
          </a:p>
          <a:p>
            <a:pPr>
              <a:defRPr sz="2400"/>
            </a:pPr>
            <a:r>
              <a:t>三角形有三个顶点、三条边和三个角</a:t>
            </a:r>
          </a:p>
          <a:p>
            <a:pPr>
              <a:defRPr sz="2400"/>
            </a:pPr>
            <a:r>
              <a:t>每个三角形都有底和高</a:t>
            </a:r>
          </a:p>
        </p:txBody>
      </p:sp>
    </p:spTree>
    <p:transition spd="600">
      <p:push/>
    </p:transition>
    <p:timing>
      <p:timeNodeList>
        <p:parTimeNode id="1" presetID="8" presetClass="entr" presetSubtype="0" fill="hold" nodeType="mainSeq">
          <p:dur val="400"/>
          <p:stM val="0"/>
          <p:childTnLst>
            <ns2:parTimeNode id="100" fill="hold">
              <ns2:dur val="400"/>
              <ns2:stM val="0"/>
              <p:childTnLst>
                <ns2:setTimeNode id="20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2" presetID="8" presetClass="entr" presetSubtype="0" fill="hold" nodeType="mainSeq">
          <p:dur val="400"/>
          <p:stM val="500"/>
          <p:childTnLst>
            <ns2:parTimeNode id="101" fill="hold">
              <ns2:dur val="400"/>
              <ns2:stM val="0"/>
              <p:childTnLst>
                <ns2:setTimeNode id="20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3" presetID="8" presetClass="entr" presetSubtype="0" fill="hold" nodeType="mainSeq">
          <p:dur val="400"/>
          <p:stM val="1000"/>
          <p:childTnLst>
            <ns2:parTimeNode id="102" fill="hold">
              <ns2:dur val="400"/>
              <ns2:stM val="0"/>
              <p:childTnLst>
                <ns2:setTimeNode id="202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</p:timeNodeList>
    </p:timing>
  </p:cSld>
  <p:clrMapOvr>
    <a:masterClrMapping/>
  </p:clrMapOvr>
</p:sld>
</file>

<file path=ppt/slides/slide4.xml><?xml version="1.0" encoding="utf-8"?>
<p:sld xmlns:a="http://schemas.openxmlformats.org/drawingml/2006/main" xmlns:ns2="%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000" b="1">
                <a:solidFill>
                  <a:srgbClr val="FF6B6B"/>
                </a:solidFill>
              </a:defRPr>
            </a:pPr>
            <a:r>
              <a:t>常见错误与预防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3657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FF6B6B"/>
                </a:solidFill>
              </a:defRPr>
            </a:pPr>
            <a:r>
              <a:t>❌ 常见错误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645920"/>
            <a:ext cx="3657600" cy="4114800"/>
          </a:xfrm>
          <a:prstGeom prst="roundRect">
            <a:avLst/>
          </a:prstGeom>
          <a:solidFill>
            <a:srgbClr val="FF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329184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200" b="1">
                <a:solidFill>
                  <a:srgbClr val="FF6B6B"/>
                </a:solidFill>
              </a:defRPr>
            </a:pPr>
            <a:r>
              <a:t>【错误示例】</a:t>
            </a:r>
          </a:p>
          <a:p>
            <a:pPr>
              <a:spcAft>
                <a:spcPts val="800"/>
              </a:spcAft>
              <a:defRPr sz="2400"/>
            </a:pPr>
            <a:r>
              <a:t>错误：计算三角形面积时，用底乘高，忘记除以 2。例如：底 6 cm，高 4 cm，错误计算为 6 × 4 = 24 cm²。</a:t>
            </a:r>
          </a:p>
          <a:p>
            <a:pPr>
              <a:defRPr sz="2200" b="1">
                <a:solidFill>
                  <a:srgbClr val="FF6B6B"/>
                </a:solidFill>
              </a:defRPr>
            </a:pPr>
            <a:r>
              <a:t>【错误原因】</a:t>
            </a:r>
          </a:p>
          <a:p>
            <a:pPr>
              <a:defRPr sz="2400"/>
            </a:pPr>
            <a:r>
              <a:t>对三角形面积公式理解不深，误以为和平行四边形面积公式一样。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0" y="1097280"/>
            <a:ext cx="3657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43A047"/>
                </a:solidFill>
              </a:defRPr>
            </a:pPr>
            <a:r>
              <a:t>✓ 正确方法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0" y="1645920"/>
            <a:ext cx="3657600" cy="4114800"/>
          </a:xfrm>
          <a:prstGeom prst="roundRect">
            <a:avLst/>
          </a:prstGeom>
          <a:solidFill>
            <a:srgbClr val="F0FF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212080" y="1828800"/>
            <a:ext cx="329184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200" b="1">
                <a:solidFill>
                  <a:srgbClr val="43A047"/>
                </a:solidFill>
              </a:defRPr>
            </a:pPr>
            <a:r>
              <a:t>【正确解法】</a:t>
            </a:r>
          </a:p>
          <a:p>
            <a:pPr>
              <a:spcAft>
                <a:spcPts val="800"/>
              </a:spcAft>
              <a:defRPr sz="2400"/>
            </a:pPr>
            <a:r>
              <a:t>正确：S = 6 × 4 ÷ 2 = 12 cm²。牢记公式 S = a × h ÷ 2。</a:t>
            </a:r>
          </a:p>
          <a:p>
            <a:pPr>
              <a:defRPr sz="2200" b="1">
                <a:solidFill>
                  <a:srgbClr val="43A047"/>
                </a:solidFill>
              </a:defRPr>
            </a:pPr>
            <a:r>
              <a:t>【预防策略】</a:t>
            </a:r>
          </a:p>
          <a:p>
            <a:pPr>
              <a:defRPr sz="2400"/>
            </a:pPr>
            <a:r>
              <a:t>通过拼图活动加深理解；记忆口诀“底乘高，除以二”；计算后检查是否除以 2。</a:t>
            </a:r>
          </a:p>
        </p:txBody>
      </p:sp>
    </p:spTree>
    <p:transition spd="600">
      <p:push/>
    </p:transition>
    <p:timing>
      <p:timeNodeList>
        <p:parTimeNode id="1" presetID="8" presetClass="entr" presetSubtype="0" fill="hold" nodeType="mainSeq">
          <p:dur val="400"/>
          <p:stM val="0"/>
          <p:childTnLst>
            <ns2:parTimeNode id="100" fill="hold">
              <ns2:dur val="400"/>
              <ns2:stM val="0"/>
              <p:childTnLst>
                <ns2:setTimeNode id="20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2" presetID="8" presetClass="entr" presetSubtype="0" fill="hold" nodeType="mainSeq">
          <p:dur val="400"/>
          <p:stM val="500"/>
          <p:childTnLst>
            <ns2:parTimeNode id="101" fill="hold">
              <ns2:dur val="400"/>
              <ns2:stM val="0"/>
              <p:childTnLst>
                <ns2:setTimeNode id="20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3" presetID="8" presetClass="entr" presetSubtype="0" fill="hold" nodeType="mainSeq">
          <p:dur val="400"/>
          <p:stM val="1000"/>
          <p:childTnLst>
            <ns2:parTimeNode id="102" fill="hold">
              <ns2:dur val="400"/>
              <ns2:stM val="0"/>
              <p:childTnLst>
                <ns2:setTimeNode id="202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4" presetID="8" presetClass="entr" presetSubtype="0" fill="hold" nodeType="mainSeq">
          <p:dur val="400"/>
          <p:stM val="1500"/>
          <p:childTnLst>
            <ns2:parTimeNode id="103" fill="hold">
              <ns2:dur val="400"/>
              <ns2:stM val="0"/>
              <p:childTnLst>
                <ns2:setTimeNode id="203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5" presetID="8" presetClass="entr" presetSubtype="0" fill="hold" nodeType="mainSeq">
          <p:dur val="400"/>
          <p:stM val="2000"/>
          <p:childTnLst>
            <ns2:parTimeNode id="104" fill="hold">
              <ns2:dur val="400"/>
              <ns2:stM val="0"/>
              <p:childTnLst>
                <ns2:setTimeNode id="204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6" presetID="8" presetClass="entr" presetSubtype="0" fill="hold" nodeType="mainSeq">
          <p:dur val="400"/>
          <p:stM val="2500"/>
          <p:childTnLst>
            <ns2:parTimeNode id="105" fill="hold">
              <ns2:dur val="400"/>
              <ns2:stM val="0"/>
              <p:childTnLst>
                <ns2:setTimeNode id="205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7" presetID="8" presetClass="entr" presetSubtype="0" fill="hold" nodeType="mainSeq">
          <p:dur val="400"/>
          <p:stM val="3000"/>
          <p:childTnLst>
            <ns2:parTimeNode id="106" fill="hold">
              <ns2:dur val="400"/>
              <ns2:stM val="0"/>
              <p:childTnLst>
                <ns2:setTimeNode id="206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</p:timeNodeList>
    </p:timing>
  </p:cSld>
  <p:clrMapOvr>
    <a:masterClrMapping/>
  </p:clrMapOvr>
</p:sld>
</file>

<file path=ppt/slides/slide5.xml><?xml version="1.0" encoding="utf-8"?>
<p:sld xmlns:a="http://schemas.openxmlformats.org/drawingml/2006/main" xmlns:ns2="%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>
                <a:solidFill>
                  <a:srgbClr val="448AFF"/>
                </a:solidFill>
              </a:defRPr>
            </a:pPr>
            <a:r>
              <a:t>变式练习一：基础变式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  <a:p>
            <a:pPr>
              <a:defRPr sz="2400"/>
            </a:pPr>
            <a:r>
              <a:t>改变数字，巩固公式应用</a:t>
            </a:r>
          </a:p>
          <a:p>
            <a:pPr>
              <a:defRPr sz="2400"/>
            </a:pPr>
            <a:r>
              <a:t>注意单位换算和计算准确性</a:t>
            </a:r>
          </a:p>
        </p:txBody>
      </p:sp>
    </p:spTree>
    <p:transition spd="600">
      <p:push/>
    </p:transition>
    <p:timing>
      <p:timeNodeList>
        <p:parTimeNode id="1" presetID="8" presetClass="entr" presetSubtype="0" fill="hold" nodeType="mainSeq">
          <p:dur val="400"/>
          <p:stM val="0"/>
          <p:childTnLst>
            <ns2:parTimeNode id="100" fill="hold">
              <ns2:dur val="400"/>
              <ns2:stM val="0"/>
              <p:childTnLst>
                <ns2:setTimeNode id="20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2" presetID="8" presetClass="entr" presetSubtype="0" fill="hold" nodeType="mainSeq">
          <p:dur val="400"/>
          <p:stM val="500"/>
          <p:childTnLst>
            <ns2:parTimeNode id="101" fill="hold">
              <ns2:dur val="400"/>
              <ns2:stM val="0"/>
              <p:childTnLst>
                <ns2:setTimeNode id="20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3" presetID="8" presetClass="entr" presetSubtype="0" fill="hold" nodeType="mainSeq">
          <p:dur val="400"/>
          <p:stM val="1000"/>
          <p:childTnLst>
            <ns2:parTimeNode id="102" fill="hold">
              <ns2:dur val="400"/>
              <ns2:stM val="0"/>
              <p:childTnLst>
                <ns2:setTimeNode id="202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</p:timeNodeList>
    </p:timing>
  </p:cSld>
  <p:clrMapOvr>
    <a:masterClrMapping/>
  </p:clrMapOvr>
</p:sld>
</file>

<file path=ppt/slides/slide6.xml><?xml version="1.0" encoding="utf-8"?>
<p:sld xmlns:a="http://schemas.openxmlformats.org/drawingml/2006/main" xmlns:ns2="%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3498DB"/>
                </a:solidFill>
              </a:defRPr>
            </a:pPr>
            <a:r>
              <a:t>校园绿化设计师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>
                <a:solidFill>
                  <a:srgbClr val="448AFF"/>
                </a:solidFill>
              </a:defRPr>
            </a:pPr>
            <a:r>
              <a:t>💡 建筑设计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645920"/>
            <a:ext cx="8229600" cy="2286000"/>
          </a:xfrm>
          <a:prstGeom prst="rect">
            <a:avLst/>
          </a:prstGeom>
          <a:solidFill>
            <a:srgbClr val="3498DB"/>
          </a:solidFill>
          <a:ln w="25400"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rIns="457200" tIns="274320" bIns="274320"/>
          <a:lstStyle/>
          <a:p>
            <a:pPr algn="ctr">
              <a:defRPr sz="2500">
                <a:solidFill>
                  <a:srgbClr val="323232"/>
                </a:solidFill>
              </a:defRPr>
            </a:pPr>
            <a:r>
              <a:t>学校计划在操场边建造几个三角形花坛，种植不同颜色的花卉。作为校园绿化设计师，你需要计算每个花坛的面积，以便购买足够的土壤和花卉。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4114800"/>
            <a:ext cx="8229600" cy="1828800"/>
          </a:xfrm>
          <a:prstGeom prst="rect">
            <a:avLst/>
          </a:prstGeom>
          <a:solidFill>
            <a:srgbClr val="448AFF"/>
          </a:solidFill>
          <a:ln w="38100">
            <a:solidFill>
              <a:srgbClr val="448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rIns="457200" tIns="274320" bIns="274320"/>
          <a:lstStyle/>
          <a:p>
            <a:pPr algn="ctr">
              <a:defRPr sz="2700" b="1">
                <a:solidFill>
                  <a:srgbClr val="323232"/>
                </a:solidFill>
              </a:defRPr>
            </a:pPr>
            <a:r>
              <a:t>❓ 给定一个三角形花坛的底和高，你能计算出它的面积吗？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612648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100" i="1">
                <a:solidFill>
                  <a:srgbClr val="787878"/>
                </a:solidFill>
              </a:defRPr>
            </a:pPr>
            <a:r>
              <a:t>🎨 视觉建议：展示校园平面图，标注出几个不同形状的三角形花坛，并给出其中一个的底和高数据。</a:t>
            </a:r>
          </a:p>
        </p:txBody>
      </p:sp>
    </p:spTree>
    <p:transition spd="600">
      <p:push/>
    </p:transition>
    <p:timing>
      <p:timeNodeList>
        <p:parTimeNode id="1" presetID="8" presetClass="entr" presetSubtype="0" fill="hold" nodeType="mainSeq">
          <p:dur val="400"/>
          <p:stM val="0"/>
          <p:childTnLst>
            <ns2:parTimeNode id="100" fill="hold">
              <ns2:dur val="400"/>
              <ns2:stM val="0"/>
              <p:childTnLst>
                <ns2:setTimeNode id="20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2" presetID="8" presetClass="entr" presetSubtype="0" fill="hold" nodeType="mainSeq">
          <p:dur val="400"/>
          <p:stM val="500"/>
          <p:childTnLst>
            <ns2:parTimeNode id="101" fill="hold">
              <ns2:dur val="400"/>
              <ns2:stM val="0"/>
              <p:childTnLst>
                <ns2:setTimeNode id="20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3" presetID="8" presetClass="entr" presetSubtype="0" fill="hold" nodeType="mainSeq">
          <p:dur val="400"/>
          <p:stM val="1000"/>
          <p:childTnLst>
            <ns2:parTimeNode id="102" fill="hold">
              <ns2:dur val="400"/>
              <ns2:stM val="0"/>
              <p:childTnLst>
                <ns2:setTimeNode id="202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4" presetID="8" presetClass="entr" presetSubtype="0" fill="hold" nodeType="mainSeq">
          <p:dur val="400"/>
          <p:stM val="1500"/>
          <p:childTnLst>
            <ns2:parTimeNode id="103" fill="hold">
              <ns2:dur val="400"/>
              <ns2:stM val="0"/>
              <p:childTnLst>
                <ns2:setTimeNode id="203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5" presetID="8" presetClass="entr" presetSubtype="0" fill="hold" nodeType="mainSeq">
          <p:dur val="400"/>
          <p:stM val="2000"/>
          <p:childTnLst>
            <ns2:parTimeNode id="104" fill="hold">
              <ns2:dur val="400"/>
              <ns2:stM val="0"/>
              <p:childTnLst>
                <ns2:setTimeNode id="204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</p:timeNodeList>
    </p:timing>
  </p:cSld>
  <p:clrMapOvr>
    <a:masterClrMapping/>
  </p:clrMapOvr>
</p:sld>
</file>

<file path=ppt/slides/slide7.xml><?xml version="1.0" encoding="utf-8"?>
<p:sld xmlns:a="http://schemas.openxmlformats.org/drawingml/2006/main" xmlns:ns2="%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>
                <a:solidFill>
                  <a:srgbClr val="3498DB"/>
                </a:solidFill>
              </a:defRPr>
            </a:pPr>
            <a:r>
              <a:t>从拼图中发现公式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  <a:p>
            <a:pPr>
              <a:defRPr sz="2400"/>
            </a:pPr>
            <a:r>
              <a:t>两个完全一样的三角形可以拼成一个平行四边形</a:t>
            </a:r>
          </a:p>
          <a:p>
            <a:pPr>
              <a:defRPr sz="2400"/>
            </a:pPr>
            <a:r>
              <a:t>平行四边形的面积 = 底 × 高</a:t>
            </a:r>
          </a:p>
          <a:p>
            <a:pPr>
              <a:defRPr sz="2400"/>
            </a:pPr>
            <a:r>
              <a:t>三角形的面积是平行四边形面积的一半</a:t>
            </a:r>
          </a:p>
        </p:txBody>
      </p:sp>
    </p:spTree>
    <p:transition spd="600">
      <p:push/>
    </p:transition>
    <p:timing>
      <p:timeNodeList>
        <p:parTimeNode id="1" presetID="8" presetClass="entr" presetSubtype="0" fill="hold" nodeType="mainSeq">
          <p:dur val="400"/>
          <p:stM val="0"/>
          <p:childTnLst>
            <ns2:parTimeNode id="100" fill="hold">
              <ns2:dur val="400"/>
              <ns2:stM val="0"/>
              <p:childTnLst>
                <ns2:setTimeNode id="20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2" presetID="8" presetClass="entr" presetSubtype="0" fill="hold" nodeType="mainSeq">
          <p:dur val="400"/>
          <p:stM val="500"/>
          <p:childTnLst>
            <ns2:parTimeNode id="101" fill="hold">
              <ns2:dur val="400"/>
              <ns2:stM val="0"/>
              <p:childTnLst>
                <ns2:setTimeNode id="20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3" presetID="8" presetClass="entr" presetSubtype="0" fill="hold" nodeType="mainSeq">
          <p:dur val="400"/>
          <p:stM val="1000"/>
          <p:childTnLst>
            <ns2:parTimeNode id="102" fill="hold">
              <ns2:dur val="400"/>
              <ns2:stM val="0"/>
              <p:childTnLst>
                <ns2:setTimeNode id="202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</p:timeNodeList>
    </p:timing>
  </p:cSld>
  <p:clrMapOvr>
    <a:masterClrMapping/>
  </p:clrMapOvr>
</p:sld>
</file>

<file path=ppt/slides/slide8.xml><?xml version="1.0" encoding="utf-8"?>
<p:sld xmlns:a="http://schemas.openxmlformats.org/drawingml/2006/main" xmlns:ns2="%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>
                <a:solidFill>
                  <a:srgbClr val="448AFF"/>
                </a:solidFill>
              </a:defRPr>
            </a:pPr>
            <a:r>
              <a:t>变式练习二：情境变式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  <a:p>
            <a:pPr>
              <a:defRPr sz="2400"/>
            </a:pPr>
            <a:r>
              <a:t>改变问题背景，应用公式解决实际问题</a:t>
            </a:r>
          </a:p>
          <a:p>
            <a:pPr>
              <a:defRPr sz="2400"/>
            </a:pPr>
            <a:r>
              <a:t>培养数学应用能力</a:t>
            </a:r>
          </a:p>
        </p:txBody>
      </p:sp>
    </p:spTree>
    <p:transition spd="600">
      <p:push/>
    </p:transition>
    <p:timing>
      <p:timeNodeList>
        <p:parTimeNode id="1" presetID="8" presetClass="entr" presetSubtype="0" fill="hold" nodeType="mainSeq">
          <p:dur val="400"/>
          <p:stM val="0"/>
          <p:childTnLst>
            <ns2:parTimeNode id="100" fill="hold">
              <ns2:dur val="400"/>
              <ns2:stM val="0"/>
              <p:childTnLst>
                <ns2:setTimeNode id="20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2" presetID="8" presetClass="entr" presetSubtype="0" fill="hold" nodeType="mainSeq">
          <p:dur val="400"/>
          <p:stM val="500"/>
          <p:childTnLst>
            <ns2:parTimeNode id="101" fill="hold">
              <ns2:dur val="400"/>
              <ns2:stM val="0"/>
              <p:childTnLst>
                <ns2:setTimeNode id="20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3" presetID="8" presetClass="entr" presetSubtype="0" fill="hold" nodeType="mainSeq">
          <p:dur val="400"/>
          <p:stM val="1000"/>
          <p:childTnLst>
            <ns2:parTimeNode id="102" fill="hold">
              <ns2:dur val="400"/>
              <ns2:stM val="0"/>
              <p:childTnLst>
                <ns2:setTimeNode id="202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</p:timeNodeList>
    </p:timing>
  </p:cSld>
  <p:clrMapOvr>
    <a:masterClrMapping/>
  </p:clrMapOvr>
</p:sld>
</file>

<file path=ppt/slides/slide9.xml><?xml version="1.0" encoding="utf-8"?>
<p:sld xmlns:a="http://schemas.openxmlformats.org/drawingml/2006/main" xmlns:ns2="%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>
                <a:solidFill>
                  <a:srgbClr val="3498DB"/>
                </a:solidFill>
              </a:defRPr>
            </a:pPr>
            <a:r>
              <a:t>公式表示与理解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  <a:p>
            <a:pPr>
              <a:defRPr sz="2400"/>
            </a:pPr>
            <a:r>
              <a:t>三角形面积公式：S = a × h ÷ 2</a:t>
            </a:r>
          </a:p>
          <a:p>
            <a:pPr>
              <a:defRPr sz="2400"/>
            </a:pPr>
            <a:r>
              <a:t>S 表示面积，a 表示底，h 表示高</a:t>
            </a:r>
          </a:p>
          <a:p>
            <a:pPr>
              <a:defRPr sz="2400"/>
            </a:pPr>
            <a:r>
              <a:t>计算时注意单位统一</a:t>
            </a:r>
          </a:p>
        </p:txBody>
      </p:sp>
    </p:spTree>
    <p:transition spd="600">
      <p:push/>
    </p:transition>
    <p:timing>
      <p:timeNodeList>
        <p:parTimeNode id="1" presetID="8" presetClass="entr" presetSubtype="0" fill="hold" nodeType="mainSeq">
          <p:dur val="400"/>
          <p:stM val="0"/>
          <p:childTnLst>
            <ns2:parTimeNode id="100" fill="hold">
              <ns2:dur val="400"/>
              <ns2:stM val="0"/>
              <p:childTnLst>
                <ns2:setTimeNode id="20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2" presetID="8" presetClass="entr" presetSubtype="0" fill="hold" nodeType="mainSeq">
          <p:dur val="400"/>
          <p:stM val="500"/>
          <p:childTnLst>
            <ns2:parTimeNode id="101" fill="hold">
              <ns2:dur val="400"/>
              <ns2:stM val="0"/>
              <p:childTnLst>
                <ns2:setTimeNode id="20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3" presetID="8" presetClass="entr" presetSubtype="0" fill="hold" nodeType="mainSeq">
          <p:dur val="400"/>
          <p:stM val="1000"/>
          <p:childTnLst>
            <ns2:parTimeNode id="102" fill="hold">
              <ns2:dur val="400"/>
              <ns2:stM val="0"/>
              <p:childTnLst>
                <ns2:setTimeNode id="202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</p:timeNodeList>
    </p:timing>
  </p:cSld>
  <p:clrMapOvr>
    <a:masterClrMapping/>
  </p:clrMapOvr>
</p:sld>
</file>

<file path=ppt/slides/slide10.xml><?xml version="1.0" encoding="utf-8"?>
<p:sld xmlns:a="http://schemas.openxmlformats.org/drawingml/2006/main" xmlns:ns2="%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>
                <a:solidFill>
                  <a:srgbClr val="448AFF"/>
                </a:solidFill>
              </a:defRPr>
            </a:pPr>
            <a:r>
              <a:t>变式练习三：逆向与综合变式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  <a:p>
            <a:pPr>
              <a:defRPr sz="2400"/>
            </a:pPr>
            <a:r>
              <a:t>逆向思考：已知面积和底（或高），求高（或底）</a:t>
            </a:r>
          </a:p>
          <a:p>
            <a:pPr>
              <a:defRPr sz="2400"/>
            </a:pPr>
            <a:r>
              <a:t>综合应用：结合其他图形或单位换算</a:t>
            </a:r>
          </a:p>
        </p:txBody>
      </p:sp>
    </p:spTree>
    <p:transition spd="600">
      <p:push/>
    </p:transition>
    <p:timing>
      <p:timeNodeList>
        <p:parTimeNode id="1" presetID="8" presetClass="entr" presetSubtype="0" fill="hold" nodeType="mainSeq">
          <p:dur val="400"/>
          <p:stM val="0"/>
          <p:childTnLst>
            <ns2:parTimeNode id="100" fill="hold">
              <ns2:dur val="400"/>
              <ns2:stM val="0"/>
              <p:childTnLst>
                <ns2:setTimeNode id="20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2" presetID="8" presetClass="entr" presetSubtype="0" fill="hold" nodeType="mainSeq">
          <p:dur val="400"/>
          <p:stM val="500"/>
          <p:childTnLst>
            <ns2:parTimeNode id="101" fill="hold">
              <ns2:dur val="400"/>
              <ns2:stM val="0"/>
              <p:childTnLst>
                <ns2:setTimeNode id="20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3" presetID="8" presetClass="entr" presetSubtype="0" fill="hold" nodeType="mainSeq">
          <p:dur val="400"/>
          <p:stM val="1000"/>
          <p:childTnLst>
            <ns2:parTimeNode id="102" fill="hold">
              <ns2:dur val="400"/>
              <ns2:stM val="0"/>
              <p:childTnLst>
                <ns2:setTimeNode id="202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</p:timeNodeList>
    </p:timing>
  </p:cSld>
  <p:clrMapOvr>
    <a:masterClrMapping/>
  </p:clrMapOvr>
</p:sld>
</file>

<file path=ppt/slides/slide11.xml><?xml version="1.0" encoding="utf-8"?>
<p:sld xmlns:a="http://schemas.openxmlformats.org/drawingml/2006/main" xmlns:ns2="%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>
                <a:solidFill>
                  <a:srgbClr val="3498DB"/>
                </a:solidFill>
              </a:defRPr>
            </a:pPr>
            <a:r>
              <a:t>例题：计算三角形花坛面积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  <a:p>
            <a:pPr>
              <a:defRPr sz="2400"/>
            </a:pPr>
            <a:r>
              <a:t>已知：三角形花坛底 8 米，高 5 米</a:t>
            </a:r>
          </a:p>
          <a:p>
            <a:pPr>
              <a:defRPr sz="2400"/>
            </a:pPr>
            <a:r>
              <a:t>求：花坛的面积是多少平方米？</a:t>
            </a:r>
          </a:p>
        </p:txBody>
      </p:sp>
    </p:spTree>
    <p:transition spd="600">
      <p:push/>
    </p:transition>
    <p:timing>
      <p:timeNodeList>
        <p:parTimeNode id="1" presetID="8" presetClass="entr" presetSubtype="0" fill="hold" nodeType="mainSeq">
          <p:dur val="400"/>
          <p:stM val="0"/>
          <p:childTnLst>
            <ns2:parTimeNode id="100" fill="hold">
              <ns2:dur val="400"/>
              <ns2:stM val="0"/>
              <p:childTnLst>
                <ns2:setTimeNode id="20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2" presetID="8" presetClass="entr" presetSubtype="0" fill="hold" nodeType="mainSeq">
          <p:dur val="400"/>
          <p:stM val="500"/>
          <p:childTnLst>
            <ns2:parTimeNode id="101" fill="hold">
              <ns2:dur val="400"/>
              <ns2:stM val="0"/>
              <p:childTnLst>
                <ns2:setTimeNode id="20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3" presetID="8" presetClass="entr" presetSubtype="0" fill="hold" nodeType="mainSeq">
          <p:dur val="400"/>
          <p:stM val="1000"/>
          <p:childTnLst>
            <ns2:parTimeNode id="102" fill="hold">
              <ns2:dur val="400"/>
              <ns2:stM val="0"/>
              <p:childTnLst>
                <ns2:setTimeNode id="202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</p:timeNodeList>
    </p:timing>
  </p:cSld>
  <p:clrMapOvr>
    <a:masterClrMapping/>
  </p:clrMapOvr>
</p:sld>
</file>

<file path=ppt/slides/slide12.xml><?xml version="1.0" encoding="utf-8"?>
<p:sld xmlns:a="http://schemas.openxmlformats.org/drawingml/2006/main" xmlns:ns2="%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>
                <a:solidFill>
                  <a:srgbClr val="448AFF"/>
                </a:solidFill>
              </a:defRPr>
            </a:pPr>
            <a:r>
              <a:t>课堂练习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  <a:p>
            <a:pPr>
              <a:defRPr sz="2400"/>
            </a:pPr>
            <a:r>
              <a:t>分层练习，巩固所学知识</a:t>
            </a:r>
          </a:p>
          <a:p>
            <a:pPr>
              <a:defRPr sz="2400"/>
            </a:pPr>
            <a:r>
              <a:t>标注难度和认知层级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300" b="1">
                <a:solidFill>
                  <a:srgbClr val="27AE60"/>
                </a:solidFill>
              </a:defRPr>
            </a:pPr>
            <a:r>
              <a:t>【★】1. 三角形的面积公式是什么？【难度：basic】【布鲁姆层级：remember】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37744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200">
                <a:solidFill>
                  <a:srgbClr val="646464"/>
                </a:solidFill>
              </a:defRPr>
            </a:pPr>
            <a:r>
              <a:t>答案：三角形的面积 = 底 × 高 ÷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83464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300" b="1">
                <a:solidFill>
                  <a:srgbClr val="27AE60"/>
                </a:solidFill>
              </a:defRPr>
            </a:pPr>
            <a:r>
              <a:t>【★】2. 一个三角形的底是 7 厘米，高是 4 厘米，它的面积是多少？【难度：basic】【布鲁姆层级：apply】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38328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200">
                <a:solidFill>
                  <a:srgbClr val="646464"/>
                </a:solidFill>
              </a:defRPr>
            </a:pPr>
            <a:r>
              <a:t>答案：S = 7 × 4 ÷ 2 = 14 cm²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8404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300" b="1">
                <a:solidFill>
                  <a:srgbClr val="FF9F43"/>
                </a:solidFill>
              </a:defRPr>
            </a:pPr>
            <a:r>
              <a:t>【★★】3. 判断：两个三角形一定能拼成一个平行四边形。（ ）【难度：intermediate】【布鲁姆层级：understand】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43891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200">
                <a:solidFill>
                  <a:srgbClr val="646464"/>
                </a:solidFill>
              </a:defRPr>
            </a:pPr>
            <a:r>
              <a:t>答案：错误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8463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300" b="1">
                <a:solidFill>
                  <a:srgbClr val="FF9F43"/>
                </a:solidFill>
              </a:defRPr>
            </a:pPr>
            <a:r>
              <a:t>【★★】4. 一个三角形面积是 18 平方分米，高是 6 分米，底是多少分米？【难度：intermediate】【布鲁姆层级：apply】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5394959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200">
                <a:solidFill>
                  <a:srgbClr val="646464"/>
                </a:solidFill>
              </a:defRPr>
            </a:pPr>
            <a:r>
              <a:t>答案：底 = 2 × 18 ÷ 6 = 6 分米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852159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300" b="1">
                <a:solidFill>
                  <a:srgbClr val="FF6B6B"/>
                </a:solidFill>
              </a:defRPr>
            </a:pPr>
            <a:r>
              <a:t>【★★★】5. 小明说：“一个三角形，底扩大 2 倍，高不变，面积也扩大 2 倍。”你认为对吗？为什么？【难度：advanced】【布鲁姆层级：analyze】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6400799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200">
                <a:solidFill>
                  <a:srgbClr val="646464"/>
                </a:solidFill>
              </a:defRPr>
            </a:pPr>
            <a:r>
              <a:t>答案：对。因为面积 S = a × h ÷ 2，底 a 扩大 2 倍变为 2a，则新面积 S' = 2a × h ÷ 2 = a × h，是原面积 a × h ÷ 2 的 2 倍。</a:t>
            </a:r>
          </a:p>
        </p:txBody>
      </p:sp>
    </p:spTree>
    <p:transition spd="600">
      <p:push/>
    </p:transition>
    <p:timing>
      <p:timeNodeList>
        <p:parTimeNode id="1" presetID="8" presetClass="entr" presetSubtype="0" fill="hold" nodeType="mainSeq">
          <p:dur val="400"/>
          <p:stM val="0"/>
          <p:childTnLst>
            <ns2:parTimeNode id="100" fill="hold">
              <ns2:dur val="400"/>
              <ns2:stM val="0"/>
              <p:childTnLst>
                <ns2:setTimeNode id="20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2" presetID="8" presetClass="entr" presetSubtype="0" fill="hold" nodeType="mainSeq">
          <p:dur val="400"/>
          <p:stM val="500"/>
          <p:childTnLst>
            <ns2:parTimeNode id="101" fill="hold">
              <ns2:dur val="400"/>
              <ns2:stM val="0"/>
              <p:childTnLst>
                <ns2:setTimeNode id="20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3" presetID="8" presetClass="entr" presetSubtype="0" fill="hold" nodeType="mainSeq">
          <p:dur val="400"/>
          <p:stM val="1000"/>
          <p:childTnLst>
            <ns2:parTimeNode id="102" fill="hold">
              <ns2:dur val="400"/>
              <ns2:stM val="0"/>
              <p:childTnLst>
                <ns2:setTimeNode id="202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4" presetID="8" presetClass="entr" presetSubtype="0" fill="hold" nodeType="mainSeq">
          <p:dur val="400"/>
          <p:stM val="1500"/>
          <p:childTnLst>
            <ns2:parTimeNode id="103" fill="hold">
              <ns2:dur val="400"/>
              <ns2:stM val="0"/>
              <p:childTnLst>
                <ns2:setTimeNode id="203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5" presetID="8" presetClass="entr" presetSubtype="0" fill="hold" nodeType="mainSeq">
          <p:dur val="400"/>
          <p:stM val="2000"/>
          <p:childTnLst>
            <ns2:parTimeNode id="104" fill="hold">
              <ns2:dur val="400"/>
              <ns2:stM val="0"/>
              <p:childTnLst>
                <ns2:setTimeNode id="204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6" presetID="8" presetClass="entr" presetSubtype="0" fill="hold" nodeType="mainSeq">
          <p:dur val="400"/>
          <p:stM val="2500"/>
          <p:childTnLst>
            <ns2:parTimeNode id="105" fill="hold">
              <ns2:dur val="400"/>
              <ns2:stM val="0"/>
              <p:childTnLst>
                <ns2:setTimeNode id="205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7" presetID="8" presetClass="entr" presetSubtype="0" fill="hold" nodeType="mainSeq">
          <p:dur val="400"/>
          <p:stM val="3000"/>
          <p:childTnLst>
            <ns2:parTimeNode id="106" fill="hold">
              <ns2:dur val="400"/>
              <ns2:stM val="0"/>
              <p:childTnLst>
                <ns2:setTimeNode id="206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8" presetID="8" presetClass="entr" presetSubtype="0" fill="hold" nodeType="mainSeq">
          <p:dur val="400"/>
          <p:stM val="3500"/>
          <p:childTnLst>
            <ns2:parTimeNode id="107" fill="hold">
              <ns2:dur val="400"/>
              <ns2:stM val="0"/>
              <p:childTnLst>
                <ns2:setTimeNode id="207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9" presetID="8" presetClass="entr" presetSubtype="0" fill="hold" nodeType="mainSeq">
          <p:dur val="400"/>
          <p:stM val="4000"/>
          <p:childTnLst>
            <ns2:parTimeNode id="108" fill="hold">
              <ns2:dur val="400"/>
              <ns2:stM val="0"/>
              <p:childTnLst>
                <ns2:setTimeNode id="208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10" presetID="8" presetClass="entr" presetSubtype="0" fill="hold" nodeType="mainSeq">
          <p:dur val="400"/>
          <p:stM val="4500"/>
          <p:childTnLst>
            <ns2:parTimeNode id="109" fill="hold">
              <ns2:dur val="400"/>
              <ns2:stM val="0"/>
              <p:childTnLst>
                <ns2:setTimeNode id="209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11" presetID="8" presetClass="entr" presetSubtype="0" fill="hold" nodeType="mainSeq">
          <p:dur val="400"/>
          <p:stM val="5000"/>
          <p:childTnLst>
            <ns2:parTimeNode id="110" fill="hold">
              <ns2:dur val="400"/>
              <ns2:stM val="0"/>
              <p:childTnLst>
                <ns2:setTimeNode id="21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12" presetID="8" presetClass="entr" presetSubtype="0" fill="hold" nodeType="mainSeq">
          <p:dur val="400"/>
          <p:stM val="5500"/>
          <p:childTnLst>
            <ns2:parTimeNode id="111" fill="hold">
              <ns2:dur val="400"/>
              <ns2:stM val="0"/>
              <p:childTnLst>
                <ns2:setTimeNode id="21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13" presetID="8" presetClass="entr" presetSubtype="0" fill="hold" nodeType="mainSeq">
          <p:dur val="400"/>
          <p:stM val="6000"/>
          <p:childTnLst>
            <ns2:parTimeNode id="112" fill="hold">
              <ns2:dur val="400"/>
              <ns2:stM val="0"/>
              <p:childTnLst>
                <ns2:setTimeNode id="212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</p:timeNodeList>
    </p:timing>
  </p:cSld>
  <p:clrMapOvr>
    <a:masterClrMapping/>
  </p:clrMapOvr>
</p:sld>
</file>

<file path=ppt/slides/slide13.xml><?xml version="1.0" encoding="utf-8"?>
<p:sld xmlns:a="http://schemas.openxmlformats.org/drawingml/2006/main" xmlns:ns2="%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>
                <a:solidFill>
                  <a:srgbClr val="3498DB"/>
                </a:solidFill>
              </a:defRPr>
            </a:pPr>
            <a:r>
              <a:t>总结回顾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  <a:p>
            <a:pPr>
              <a:defRPr sz="2400" b="1"/>
            </a:pPr>
            <a:r>
              <a:t>本节课学习了三角形面积公式，通过拼图活动推导出公式 S = a × h ÷ 2，并应用公式解决实际问题。掌握了计算方法和易错点，培养了数形结合和转化思想。</a:t>
            </a:r>
          </a:p>
          <a:p>
            <a:br/>
            <a:pPr>
              <a:defRPr sz="2400" b="1"/>
            </a:pPr>
            <a:r>
              <a:t>重点：</a:t>
            </a:r>
          </a:p>
          <a:p>
            <a:pPr>
              <a:defRPr sz="2400"/>
            </a:pPr>
            <a:r>
              <a:t>• 三角形面积公式的推导过程</a:t>
            </a:r>
          </a:p>
          <a:p>
            <a:pPr>
              <a:defRPr sz="2400"/>
            </a:pPr>
            <a:r>
              <a:t>• 公式 S = a × h ÷ 2 的理解和应用</a:t>
            </a:r>
          </a:p>
          <a:p>
            <a:pPr>
              <a:defRPr sz="2400"/>
            </a:pPr>
            <a:r>
              <a:t>• 计算时注意单位统一和除以 2</a:t>
            </a:r>
          </a:p>
        </p:txBody>
      </p:sp>
    </p:spTree>
    <p:transition spd="600">
      <p:push/>
    </p:transition>
    <p:timing>
      <p:timeNodeList>
        <p:parTimeNode id="1" presetID="8" presetClass="entr" presetSubtype="0" fill="hold" nodeType="mainSeq">
          <p:dur val="400"/>
          <p:stM val="0"/>
          <p:childTnLst>
            <ns2:parTimeNode id="100" fill="hold">
              <ns2:dur val="400"/>
              <ns2:stM val="0"/>
              <p:childTnLst>
                <ns2:setTimeNode id="20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2" presetID="8" presetClass="entr" presetSubtype="0" fill="hold" nodeType="mainSeq">
          <p:dur val="400"/>
          <p:stM val="500"/>
          <p:childTnLst>
            <ns2:parTimeNode id="101" fill="hold">
              <ns2:dur val="400"/>
              <ns2:stM val="0"/>
              <p:childTnLst>
                <ns2:setTimeNode id="20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3" presetID="8" presetClass="entr" presetSubtype="0" fill="hold" nodeType="mainSeq">
          <p:dur val="400"/>
          <p:stM val="1000"/>
          <p:childTnLst>
            <ns2:parTimeNode id="102" fill="hold">
              <ns2:dur val="400"/>
              <ns2:stM val="0"/>
              <p:childTnLst>
                <ns2:setTimeNode id="202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</p:timeNodeList>
    </p:timing>
  </p:cSld>
  <p:clrMapOvr>
    <a:masterClrMapping/>
  </p:clrMapOvr>
</p:sld>
</file>

<file path=ppt/slides/slide14.xml><?xml version="1.0" encoding="utf-8"?>
<p:sld xmlns:a="http://schemas.openxmlformats.org/drawingml/2006/main" xmlns:ns2="%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>
                <a:solidFill>
                  <a:srgbClr val="3498DB"/>
                </a:solidFill>
              </a:defRPr>
            </a:pPr>
            <a:r>
              <a:t>总结回顾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  <a:p>
            <a:pPr>
              <a:defRPr sz="2400" b="1"/>
            </a:pPr>
            <a:r>
              <a:t>本节课学习了三角形面积公式，通过拼图活动推导出公式 S = a × h ÷ 2，并应用公式解决实际问题。掌握了计算方法和易错点，培养了数形结合和转化思想。</a:t>
            </a:r>
          </a:p>
          <a:p>
            <a:br/>
            <a:pPr>
              <a:defRPr sz="2400" b="1"/>
            </a:pPr>
            <a:r>
              <a:t>重点：</a:t>
            </a:r>
          </a:p>
          <a:p>
            <a:pPr>
              <a:defRPr sz="2400"/>
            </a:pPr>
            <a:r>
              <a:t>• 三角形面积公式的推导过程</a:t>
            </a:r>
          </a:p>
          <a:p>
            <a:pPr>
              <a:defRPr sz="2400"/>
            </a:pPr>
            <a:r>
              <a:t>• 公式 S = a × h ÷ 2 的理解和应用</a:t>
            </a:r>
          </a:p>
          <a:p>
            <a:pPr>
              <a:defRPr sz="2400"/>
            </a:pPr>
            <a:r>
              <a:t>• 计算时注意单位统一和除以 2</a:t>
            </a:r>
          </a:p>
        </p:txBody>
      </p:sp>
    </p:spTree>
    <p:transition spd="600">
      <p:push/>
    </p:transition>
    <p:timing>
      <p:timeNodeList>
        <p:parTimeNode id="1" presetID="8" presetClass="entr" presetSubtype="0" fill="hold" nodeType="mainSeq">
          <p:dur val="400"/>
          <p:stM val="0"/>
          <p:childTnLst>
            <ns2:parTimeNode id="100" fill="hold">
              <ns2:dur val="400"/>
              <ns2:stM val="0"/>
              <p:childTnLst>
                <ns2:setTimeNode id="20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2" presetID="8" presetClass="entr" presetSubtype="0" fill="hold" nodeType="mainSeq">
          <p:dur val="400"/>
          <p:stM val="500"/>
          <p:childTnLst>
            <ns2:parTimeNode id="101" fill="hold">
              <ns2:dur val="400"/>
              <ns2:stM val="0"/>
              <p:childTnLst>
                <ns2:setTimeNode id="20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3" presetID="8" presetClass="entr" presetSubtype="0" fill="hold" nodeType="mainSeq">
          <p:dur val="400"/>
          <p:stM val="1000"/>
          <p:childTnLst>
            <ns2:parTimeNode id="102" fill="hold">
              <ns2:dur val="400"/>
              <ns2:stM val="0"/>
              <p:childTnLst>
                <ns2:setTimeNode id="202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</p:timeNodeList>
    </p:timing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