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3498DB"/>
                </a:solidFill>
              </a:defRPr>
            </a:pPr>
            <a:r>
              <a:t>小数乘整数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6576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808080"/>
                </a:solidFill>
              </a:defRPr>
            </a:pPr>
            <a:r>
              <a:t>AI 教学 PPT 生成器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2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>
                <a:solidFill>
                  <a:srgbClr val="448AFF"/>
                </a:solidFill>
              </a:defRPr>
            </a:pPr>
            <a:r>
              <a:t>目录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/>
            </a:pPr>
            <a:r>
              <a:t>1. 小数乘整数</a:t>
            </a:r>
          </a:p>
          <a:p>
            <a:pPr>
              <a:defRPr sz="2400"/>
            </a:pPr>
            <a:r>
              <a:t>3. 小数乘整数的意义</a:t>
            </a:r>
          </a:p>
          <a:p>
            <a:pPr>
              <a:defRPr sz="2400"/>
            </a:pPr>
            <a:r>
              <a:t>4. 火眼金睛辨对错</a:t>
            </a:r>
          </a:p>
          <a:p>
            <a:pPr>
              <a:defRPr sz="2400"/>
            </a:pPr>
            <a:r>
              <a:t>5. 练一练，我能行！</a:t>
            </a:r>
          </a:p>
          <a:p>
            <a:pPr>
              <a:defRPr sz="2400"/>
            </a:pPr>
            <a:r>
              <a:t>6. 超市购物记</a:t>
            </a:r>
          </a:p>
          <a:p>
            <a:pPr>
              <a:defRPr sz="2400"/>
            </a:pPr>
            <a:r>
              <a:t>7. 如何计算？——方法探究</a:t>
            </a:r>
          </a:p>
          <a:p>
            <a:pPr>
              <a:defRPr sz="2400"/>
            </a:pPr>
            <a:r>
              <a:t>8. 巩固提升</a:t>
            </a:r>
          </a:p>
          <a:p>
            <a:pPr>
              <a:defRPr sz="2400"/>
            </a:pPr>
            <a:r>
              <a:t>9. 例题精讲</a:t>
            </a:r>
          </a:p>
          <a:p>
            <a:pPr>
              <a:defRPr sz="2400"/>
            </a:pPr>
            <a:r>
              <a:t>10. 课堂小结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3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3498DB"/>
                </a:solidFill>
              </a:defRPr>
            </a:pPr>
            <a:r>
              <a:t>小数乘整数的意义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/>
            </a:pPr>
            <a:r>
              <a:t>小数乘整数的意义：求几个相同小数加数的和的简便运算。</a:t>
            </a:r>
          </a:p>
          <a:p>
            <a:pPr>
              <a:defRPr sz="2400"/>
            </a:pPr>
            <a:r>
              <a:t>例如：2.5×3 表示 3个2.5相加的和。</a:t>
            </a:r>
          </a:p>
          <a:p>
            <a:pPr>
              <a:defRPr sz="2400"/>
            </a:pPr>
            <a:r>
              <a:t>思考：2.5×3 和 25×3 有什么联系？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4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FF6B6B"/>
                </a:solidFill>
              </a:defRPr>
            </a:pPr>
            <a:r>
              <a:t>火眼金睛辨对错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6B6B"/>
                </a:solidFill>
              </a:defRPr>
            </a:pPr>
            <a:r>
              <a:t>❌ 常见错误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3657600" cy="4114800"/>
          </a:xfrm>
          <a:prstGeom prst="round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32918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200" b="1">
                <a:solidFill>
                  <a:srgbClr val="FF6B6B"/>
                </a:solidFill>
              </a:defRPr>
            </a:pPr>
            <a:r>
              <a:t>【错误示例】</a:t>
            </a:r>
          </a:p>
          <a:p>
            <a:pPr>
              <a:spcAft>
                <a:spcPts val="800"/>
              </a:spcAft>
              <a:defRPr sz="2400"/>
            </a:pPr>
            <a:r>
              <a:t>计算 0.24×5 = 12</a:t>
            </a:r>
          </a:p>
          <a:p>
            <a:pPr>
              <a:defRPr sz="2200" b="1">
                <a:solidFill>
                  <a:srgbClr val="FF6B6B"/>
                </a:solidFill>
              </a:defRPr>
            </a:pPr>
            <a:r>
              <a:t>【错误原因】</a:t>
            </a:r>
          </a:p>
          <a:p>
            <a:pPr>
              <a:defRPr sz="2400"/>
            </a:pPr>
            <a:r>
              <a:t>错误原因：只进行了整数乘法计算（24×5=120），但完全忘记了要点小数点。误将小数乘法完全等同于整数乘法。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109728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43A047"/>
                </a:solidFill>
              </a:defRPr>
            </a:pPr>
            <a:r>
              <a:t>✓ 正确方法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0" y="1645920"/>
            <a:ext cx="3657600" cy="4114800"/>
          </a:xfrm>
          <a:prstGeom prst="roundRect">
            <a:avLst/>
          </a:prstGeom>
          <a:solidFill>
            <a:srgbClr val="F0F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12080" y="1828800"/>
            <a:ext cx="32918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200" b="1">
                <a:solidFill>
                  <a:srgbClr val="43A047"/>
                </a:solidFill>
              </a:defRPr>
            </a:pPr>
            <a:r>
              <a:t>【正确解法】</a:t>
            </a:r>
          </a:p>
          <a:p>
            <a:pPr>
              <a:spcAft>
                <a:spcPts val="800"/>
              </a:spcAft>
              <a:defRPr sz="2400"/>
            </a:pPr>
            <a:r>
              <a:t>正确计算：0.24×5=1.2。先算24×5=120，因数0.24有两位小数，所以从120的右边起数两位，点上小数点得1.20，化简为1.2。</a:t>
            </a:r>
          </a:p>
          <a:p>
            <a:pPr>
              <a:defRPr sz="2200" b="1">
                <a:solidFill>
                  <a:srgbClr val="43A047"/>
                </a:solidFill>
              </a:defRPr>
            </a:pPr>
            <a:r>
              <a:t>【预防策略】</a:t>
            </a:r>
          </a:p>
          <a:p>
            <a:pPr>
              <a:defRPr sz="2400"/>
            </a:pPr>
            <a:r>
              <a:t>严格按照“一算、二数、三点”的步骤操作，算完整数乘法后，一定要回头看看因数有几位小数。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4" presetID="8" presetClass="entr" presetSubtype="0" fill="hold" nodeType="mainSeq">
          <p:dur val="400"/>
          <p:stM val="1500"/>
          <p:childTnLst>
            <ns2:parTimeNode id="103" fill="hold">
              <ns2:dur val="400"/>
              <ns2:stM val="0"/>
              <p:childTnLst>
                <ns2:setTimeNode id="203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5" presetID="8" presetClass="entr" presetSubtype="0" fill="hold" nodeType="mainSeq">
          <p:dur val="400"/>
          <p:stM val="2000"/>
          <p:childTnLst>
            <ns2:parTimeNode id="104" fill="hold">
              <ns2:dur val="400"/>
              <ns2:stM val="0"/>
              <p:childTnLst>
                <ns2:setTimeNode id="204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6" presetID="8" presetClass="entr" presetSubtype="0" fill="hold" nodeType="mainSeq">
          <p:dur val="400"/>
          <p:stM val="2500"/>
          <p:childTnLst>
            <ns2:parTimeNode id="105" fill="hold">
              <ns2:dur val="400"/>
              <ns2:stM val="0"/>
              <p:childTnLst>
                <ns2:setTimeNode id="205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7" presetID="8" presetClass="entr" presetSubtype="0" fill="hold" nodeType="mainSeq">
          <p:dur val="400"/>
          <p:stM val="3000"/>
          <p:childTnLst>
            <ns2:parTimeNode id="106" fill="hold">
              <ns2:dur val="400"/>
              <ns2:stM val="0"/>
              <p:childTnLst>
                <ns2:setTimeNode id="206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5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448AFF"/>
                </a:solidFill>
              </a:defRPr>
            </a:pPr>
            <a:r>
              <a:t>练一练，我能行！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/>
            </a:pPr>
            <a:r>
              <a:t>请独立完成以下练习，巩固计算方法。</a:t>
            </a:r>
          </a:p>
          <a:p>
            <a:pPr>
              <a:defRPr sz="2400"/>
            </a:pPr>
            <a:r>
              <a:t>思考：每题用了什么方法？需要注意什么？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6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3498DB"/>
                </a:solidFill>
              </a:defRPr>
            </a:pPr>
            <a:r>
              <a:t>超市购物记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448AFF"/>
                </a:solidFill>
              </a:defRPr>
            </a:pPr>
            <a:r>
              <a:t>🛒 购物消费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45920"/>
            <a:ext cx="8229600" cy="2286000"/>
          </a:xfrm>
          <a:prstGeom prst="rect">
            <a:avLst/>
          </a:prstGeom>
          <a:solidFill>
            <a:srgbClr val="3498DB"/>
          </a:solidFill>
          <a:ln w="254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 tIns="274320" bIns="274320"/>
          <a:lstStyle/>
          <a:p>
            <a:pPr algn="ctr">
              <a:defRPr sz="2500">
                <a:solidFill>
                  <a:srgbClr val="323232"/>
                </a:solidFill>
              </a:defRPr>
            </a:pPr>
            <a:r>
              <a:t>周末，小明和妈妈去超市购物。他看中了一种铅笔，每支铅笔的价格是2.5元。他想买3支这样的铅笔。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4114800"/>
            <a:ext cx="8229600" cy="1828800"/>
          </a:xfrm>
          <a:prstGeom prst="rect">
            <a:avLst/>
          </a:prstGeom>
          <a:solidFill>
            <a:srgbClr val="448AFF"/>
          </a:solidFill>
          <a:ln w="38100">
            <a:solidFill>
              <a:srgbClr val="448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 tIns="274320" bIns="274320"/>
          <a:lstStyle/>
          <a:p>
            <a:pPr algn="ctr">
              <a:defRPr sz="2700" b="1">
                <a:solidFill>
                  <a:srgbClr val="323232"/>
                </a:solidFill>
              </a:defRPr>
            </a:pPr>
            <a:r>
              <a:t>❓ 买3支铅笔一共需要多少钱？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1264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100" i="1">
                <a:solidFill>
                  <a:srgbClr val="787878"/>
                </a:solidFill>
              </a:defRPr>
            </a:pPr>
            <a:r>
              <a:t>🎨 视觉建议：展示铅笔的图片和价签（2.5元/支），旁边可以放一个购物篮，里面放着3支铅笔。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4" presetID="8" presetClass="entr" presetSubtype="0" fill="hold" nodeType="mainSeq">
          <p:dur val="400"/>
          <p:stM val="1500"/>
          <p:childTnLst>
            <ns2:parTimeNode id="103" fill="hold">
              <ns2:dur val="400"/>
              <ns2:stM val="0"/>
              <p:childTnLst>
                <ns2:setTimeNode id="203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5" presetID="8" presetClass="entr" presetSubtype="0" fill="hold" nodeType="mainSeq">
          <p:dur val="400"/>
          <p:stM val="2000"/>
          <p:childTnLst>
            <ns2:parTimeNode id="104" fill="hold">
              <ns2:dur val="400"/>
              <ns2:stM val="0"/>
              <p:childTnLst>
                <ns2:setTimeNode id="204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7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3498DB"/>
                </a:solidFill>
              </a:defRPr>
            </a:pPr>
            <a:r>
              <a:t>如何计算？——方法探究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/>
            </a:pPr>
            <a:r>
              <a:t>方法一：加法转化。2.5×3 = 2.5+2.5+2.5 = 7.5</a:t>
            </a:r>
          </a:p>
          <a:p>
            <a:pPr>
              <a:defRPr sz="2400"/>
            </a:pPr>
            <a:r>
              <a:t>方法二：单位换算。2.5元 = 25角，25角×3=75角=7.5元</a:t>
            </a:r>
          </a:p>
          <a:p>
            <a:pPr>
              <a:defRPr sz="2400"/>
            </a:pPr>
            <a:r>
              <a:t>方法三：积的变化规律。把2.5看作25，先算25×3=75，再点小数点。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8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448AFF"/>
                </a:solidFill>
              </a:defRPr>
            </a:pPr>
            <a:r>
              <a:t>巩固提升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/>
            </a:pPr>
            <a:r>
              <a:t>请根据你的掌握情况，选择完成。</a:t>
            </a:r>
          </a:p>
          <a:p>
            <a:pPr>
              <a:defRPr sz="2400"/>
            </a:pPr>
            <a:r>
              <a:t>完成后，对照答案，分析错因。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300" b="1">
                <a:solidFill>
                  <a:srgbClr val="27AE60"/>
                </a:solidFill>
              </a:defRPr>
            </a:pPr>
            <a:r>
              <a:t>【★】1. 填空：计算3.25×4时，先把3.25看作（ ）×4，算出积是（ ），因为原来的因数有（ ）位小数，所以要从积的（ ）边起数出（ ）位点上小数点，结果是（ ）。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37744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646464"/>
                </a:solidFill>
              </a:defRPr>
            </a:pPr>
            <a:r>
              <a:t>答案：325，1300，两，右，两，13.00（或13）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300" b="1">
                <a:solidFill>
                  <a:srgbClr val="27AE60"/>
                </a:solidFill>
              </a:defRPr>
            </a:pPr>
            <a:r>
              <a:t>【★】2. 列竖式计算：0.76×9 = 1.05×24 =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38328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646464"/>
                </a:solidFill>
              </a:defRPr>
            </a:pPr>
            <a:r>
              <a:t>答案：6.84， 25.2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8404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300" b="1">
                <a:solidFill>
                  <a:srgbClr val="FF9F43"/>
                </a:solidFill>
              </a:defRPr>
            </a:pPr>
            <a:r>
              <a:t>【★★】3. 解决问题：一瓶矿泉水1.5元，我们班有42人，每人买一瓶，一共需要多少钱？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3891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646464"/>
                </a:solidFill>
              </a:defRPr>
            </a:pPr>
            <a:r>
              <a:t>答案：1.5×42=63（元）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846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300" b="1">
                <a:solidFill>
                  <a:srgbClr val="FF6B6B"/>
                </a:solidFill>
              </a:defRPr>
            </a:pPr>
            <a:r>
              <a:t>【★★★】4. 思考题：小明在计算一个一位小数乘15时，错误地将这个一位小数看成了整数，结果得到的积比正确的积大了97.2。你知道原来这个一位小数是多少吗？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5394959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646464"/>
                </a:solidFill>
              </a:defRPr>
            </a:pPr>
            <a:r>
              <a:t>答案：10.8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4" presetID="8" presetClass="entr" presetSubtype="0" fill="hold" nodeType="mainSeq">
          <p:dur val="400"/>
          <p:stM val="1500"/>
          <p:childTnLst>
            <ns2:parTimeNode id="103" fill="hold">
              <ns2:dur val="400"/>
              <ns2:stM val="0"/>
              <p:childTnLst>
                <ns2:setTimeNode id="203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5" presetID="8" presetClass="entr" presetSubtype="0" fill="hold" nodeType="mainSeq">
          <p:dur val="400"/>
          <p:stM val="2000"/>
          <p:childTnLst>
            <ns2:parTimeNode id="104" fill="hold">
              <ns2:dur val="400"/>
              <ns2:stM val="0"/>
              <p:childTnLst>
                <ns2:setTimeNode id="204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6" presetID="8" presetClass="entr" presetSubtype="0" fill="hold" nodeType="mainSeq">
          <p:dur val="400"/>
          <p:stM val="2500"/>
          <p:childTnLst>
            <ns2:parTimeNode id="105" fill="hold">
              <ns2:dur val="400"/>
              <ns2:stM val="0"/>
              <p:childTnLst>
                <ns2:setTimeNode id="205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7" presetID="8" presetClass="entr" presetSubtype="0" fill="hold" nodeType="mainSeq">
          <p:dur val="400"/>
          <p:stM val="3000"/>
          <p:childTnLst>
            <ns2:parTimeNode id="106" fill="hold">
              <ns2:dur val="400"/>
              <ns2:stM val="0"/>
              <p:childTnLst>
                <ns2:setTimeNode id="206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8" presetID="8" presetClass="entr" presetSubtype="0" fill="hold" nodeType="mainSeq">
          <p:dur val="400"/>
          <p:stM val="3500"/>
          <p:childTnLst>
            <ns2:parTimeNode id="107" fill="hold">
              <ns2:dur val="400"/>
              <ns2:stM val="0"/>
              <p:childTnLst>
                <ns2:setTimeNode id="207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9" presetID="8" presetClass="entr" presetSubtype="0" fill="hold" nodeType="mainSeq">
          <p:dur val="400"/>
          <p:stM val="4000"/>
          <p:childTnLst>
            <ns2:parTimeNode id="108" fill="hold">
              <ns2:dur val="400"/>
              <ns2:stM val="0"/>
              <p:childTnLst>
                <ns2:setTimeNode id="208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10" presetID="8" presetClass="entr" presetSubtype="0" fill="hold" nodeType="mainSeq">
          <p:dur val="400"/>
          <p:stM val="4500"/>
          <p:childTnLst>
            <ns2:parTimeNode id="109" fill="hold">
              <ns2:dur val="400"/>
              <ns2:stM val="0"/>
              <p:childTnLst>
                <ns2:setTimeNode id="209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11" presetID="8" presetClass="entr" presetSubtype="0" fill="hold" nodeType="mainSeq">
          <p:dur val="400"/>
          <p:stM val="5000"/>
          <p:childTnLst>
            <ns2:parTimeNode id="110" fill="hold">
              <ns2:dur val="400"/>
              <ns2:stM val="0"/>
              <p:childTnLst>
                <ns2:setTimeNode id="21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9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3498DB"/>
                </a:solidFill>
              </a:defRPr>
            </a:pPr>
            <a:r>
              <a:t>例题精讲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/>
            </a:pPr>
            <a:r>
              <a:t>【例1】 一支铅笔0.72元，买5支需要多少钱？</a:t>
            </a:r>
          </a:p>
          <a:p>
            <a:pPr>
              <a:defRPr sz="2400"/>
            </a:pPr>
            <a:r>
              <a:t>【审题】已知单价和数量，求总价。</a:t>
            </a:r>
          </a:p>
          <a:p>
            <a:pPr>
              <a:defRPr sz="2400"/>
            </a:pPr>
            <a:r>
              <a:t>【分析】总价=单价×数量，列式：0.72×5。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10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>
                <a:solidFill>
                  <a:srgbClr val="3498DB"/>
                </a:solidFill>
              </a:defRPr>
            </a:pPr>
            <a:r>
              <a:t>总结回顾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 b="1"/>
            </a:pPr>
            <a:r>
              <a:t>本节课我们学习了小数乘整数。我们从超市购物的实际问题出发，理解了小数乘整数的意义就是求几个相同小数加数的和。通过探究，我们掌握了计算方法：先把小数乘整数当作整数乘法来计算，再看因数中有几位小数，就从积的右边起数出几位点上小数点。计算时要注意积的小数位数不够时要在前面补0，末尾的0可以化简。我们运用转化的数学思想，解决了生活中的实际问题。</a:t>
            </a:r>
          </a:p>
          <a:p>
            <a:br/>
            <a:pPr>
              <a:defRPr sz="2400" b="1"/>
            </a:pPr>
            <a:r>
              <a:t>重点：</a:t>
            </a:r>
          </a:p>
          <a:p>
            <a:pPr>
              <a:defRPr sz="2400"/>
            </a:pPr>
            <a:r>
              <a:t>• 理解小数乘整数的意义是求几个相同小数加数的和。</a:t>
            </a:r>
          </a:p>
          <a:p>
            <a:pPr>
              <a:defRPr sz="2400"/>
            </a:pPr>
            <a:r>
              <a:t>• 掌握小数乘整数的计算方法：一算、二数、三点。</a:t>
            </a:r>
          </a:p>
          <a:p>
            <a:pPr>
              <a:defRPr sz="2400"/>
            </a:pPr>
            <a:r>
              <a:t>• 能解决生活中相关的简单实际问题。</a:t>
            </a:r>
          </a:p>
          <a:p>
            <a:pPr>
              <a:defRPr sz="2400"/>
            </a:pPr>
            <a:r>
              <a:t>• 注意积的小数部分末尾有0要化简。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