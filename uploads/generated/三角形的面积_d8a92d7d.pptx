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731520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3400" b="1">
                <a:solidFill>
                  <a:srgbClr val="3498DB"/>
                </a:solidFill>
              </a:defRPr>
            </a:pPr>
            <a:r>
              <a:t>三角形的面积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657600"/>
            <a:ext cx="5486400" cy="9144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400">
                <a:solidFill>
                  <a:srgbClr val="808080"/>
                </a:solidFill>
              </a:defRPr>
            </a:pPr>
            <a:r>
              <a:t>AI 教学 PPT 生成器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448AFF"/>
                </a:solidFill>
              </a:defRPr>
            </a:pPr>
            <a:r>
              <a:t>目录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1. 三角形的面积</a:t>
            </a:r>
          </a:p>
          <a:p>
            <a:pPr>
              <a:defRPr sz="2400"/>
            </a:pPr>
            <a:r>
              <a:t>3. 认识三角形的面积</a:t>
            </a:r>
          </a:p>
          <a:p>
            <a:pPr>
              <a:defRPr sz="2400"/>
            </a:pPr>
            <a:r>
              <a:t>4. 常见错误</a:t>
            </a:r>
          </a:p>
          <a:p>
            <a:pPr>
              <a:defRPr sz="2400"/>
            </a:pPr>
            <a:r>
              <a:t>5. 公式记忆图</a:t>
            </a:r>
          </a:p>
          <a:p>
            <a:pPr>
              <a:defRPr sz="2400"/>
            </a:pPr>
            <a:r>
              <a:t>6. 基础变式</a:t>
            </a:r>
          </a:p>
          <a:p>
            <a:pPr>
              <a:defRPr sz="2400"/>
            </a:pPr>
            <a:r>
              <a:t>7. 校园绿化设计师</a:t>
            </a:r>
          </a:p>
          <a:p>
            <a:pPr>
              <a:defRPr sz="2400"/>
            </a:pPr>
            <a:r>
              <a:t>8. 公式推导（一）</a:t>
            </a:r>
          </a:p>
          <a:p>
            <a:pPr>
              <a:defRPr sz="2400"/>
            </a:pPr>
            <a:r>
              <a:t>9. 情境变式</a:t>
            </a:r>
          </a:p>
          <a:p>
            <a:pPr>
              <a:defRPr sz="2400"/>
            </a:pPr>
            <a:r>
              <a:t>10. 公式推导（二）</a:t>
            </a:r>
          </a:p>
          <a:p>
            <a:pPr>
              <a:defRPr sz="2400"/>
            </a:pPr>
            <a:r>
              <a:t>11. 课堂练习（基础）</a:t>
            </a:r>
          </a:p>
          <a:p>
            <a:pPr>
              <a:defRPr sz="2400"/>
            </a:pPr>
            <a:r>
              <a:t>12. 例题精讲</a:t>
            </a:r>
          </a:p>
          <a:p>
            <a:pPr>
              <a:defRPr sz="2400"/>
            </a:pPr>
            <a:r>
              <a:t>13. 课堂练习（提高）</a:t>
            </a:r>
          </a:p>
          <a:p>
            <a:pPr>
              <a:defRPr sz="2400"/>
            </a:pPr>
            <a:r>
              <a:t>14. 课堂小结</a:t>
            </a:r>
          </a:p>
          <a:p>
            <a:pPr>
              <a:defRPr sz="2400"/>
            </a:pPr>
            <a:r>
              <a:t>15. 课堂练习（拓展）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认识三角形的面积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面积：图形所占平面的大小</a:t>
            </a:r>
          </a:p>
          <a:p>
            <a:pPr>
              <a:defRPr sz="2400"/>
            </a:pPr>
            <a:r>
              <a:t>三角形：由三条线段围成的图形</a:t>
            </a:r>
          </a:p>
          <a:p>
            <a:pPr>
              <a:defRPr sz="2400"/>
            </a:pPr>
            <a:r>
              <a:t>底和高：确定三角形大小的关键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 b="1">
                <a:solidFill>
                  <a:srgbClr val="FF6B6B"/>
                </a:solidFill>
              </a:defRPr>
            </a:pPr>
            <a:r>
              <a:t>常见错误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FF6B6B"/>
                </a:solidFill>
              </a:defRPr>
            </a:pPr>
            <a:r>
              <a:t>❌ 常见错误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645920"/>
            <a:ext cx="3657600" cy="4114800"/>
          </a:xfrm>
          <a:prstGeom prst="roundRect">
            <a:avLst/>
          </a:prstGeom>
          <a:solidFill>
            <a:srgbClr val="FF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FF6B6B"/>
                </a:solidFill>
              </a:defRPr>
            </a:pPr>
            <a:r>
              <a:t>【错误示例】</a:t>
            </a:r>
          </a:p>
          <a:p>
            <a:pPr>
              <a:spcAft>
                <a:spcPts val="800"/>
              </a:spcAft>
              <a:defRPr sz="2400"/>
            </a:pPr>
            <a:r>
              <a:t>底5cm，高4cm，计算面积：5×4=20（平方厘米）</a:t>
            </a:r>
          </a:p>
          <a:p>
            <a:pPr>
              <a:defRPr sz="2200" b="1">
                <a:solidFill>
                  <a:srgbClr val="FF6B6B"/>
                </a:solidFill>
              </a:defRPr>
            </a:pPr>
            <a:r>
              <a:t>【错误原因】</a:t>
            </a:r>
          </a:p>
          <a:p>
            <a:pPr>
              <a:defRPr sz="2400"/>
            </a:pPr>
            <a:r>
              <a:t>忘记公式中“除以2”的步骤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097280"/>
            <a:ext cx="3657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600" b="1">
                <a:solidFill>
                  <a:srgbClr val="43A047"/>
                </a:solidFill>
              </a:defRPr>
            </a:pPr>
            <a:r>
              <a:t>✓ 正确方法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1645920"/>
            <a:ext cx="3657600" cy="4114800"/>
          </a:xfrm>
          <a:prstGeom prst="roundRect">
            <a:avLst/>
          </a:prstGeom>
          <a:solidFill>
            <a:srgbClr val="F0F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0" y="1828800"/>
            <a:ext cx="329184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2200" b="1">
                <a:solidFill>
                  <a:srgbClr val="43A047"/>
                </a:solidFill>
              </a:defRPr>
            </a:pPr>
            <a:r>
              <a:t>【正确解法】</a:t>
            </a:r>
          </a:p>
          <a:p>
            <a:pPr>
              <a:spcAft>
                <a:spcPts val="800"/>
              </a:spcAft>
              <a:defRPr sz="2400"/>
            </a:pPr>
            <a:r>
              <a:t>S = (5×4)÷2 = 10平方厘米</a:t>
            </a:r>
          </a:p>
          <a:p>
            <a:pPr>
              <a:defRPr sz="2200" b="1">
                <a:solidFill>
                  <a:srgbClr val="43A047"/>
                </a:solidFill>
              </a:defRPr>
            </a:pPr>
            <a:r>
              <a:t>【预防策略】</a:t>
            </a:r>
          </a:p>
          <a:p>
            <a:pPr>
              <a:defRPr sz="2400"/>
            </a:pPr>
            <a:r>
              <a:t>牢记公式：底×高÷2，先乘后除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000">
                <a:solidFill>
                  <a:srgbClr val="3498DB"/>
                </a:solidFill>
              </a:defRPr>
            </a:pPr>
            <a:r>
              <a:t>公式记忆图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6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基础变式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改变数字，巩固公式应用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7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"/>
            <a:ext cx="73152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 b="1">
                <a:solidFill>
                  <a:srgbClr val="3498DB"/>
                </a:solidFill>
              </a:defRPr>
            </a:pPr>
            <a:r>
              <a:t>校园绿化设计师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448AFF"/>
                </a:solidFill>
              </a:defRPr>
            </a:pPr>
            <a:r>
              <a:t>💡 建筑设计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645920"/>
            <a:ext cx="8229600" cy="2286000"/>
          </a:xfrm>
          <a:prstGeom prst="rect">
            <a:avLst/>
          </a:prstGeom>
          <a:solidFill>
            <a:srgbClr val="3498DB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500">
                <a:solidFill>
                  <a:srgbClr val="323232"/>
                </a:solidFill>
              </a:defRPr>
            </a:pPr>
            <a:r>
              <a:t>学校计划在操场边建造一个三角形花坛，需要购买草皮覆盖。花坛的底边是8米，从底边到顶点的垂直距离是5米。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4114800"/>
            <a:ext cx="8229600" cy="1828800"/>
          </a:xfrm>
          <a:prstGeom prst="rect">
            <a:avLst/>
          </a:prstGeom>
          <a:solidFill>
            <a:srgbClr val="448AFF"/>
          </a:solidFill>
          <a:ln w="38100">
            <a:solidFill>
              <a:srgbClr val="448A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rIns="457200" tIns="274320" bIns="274320"/>
          <a:lstStyle/>
          <a:p>
            <a:pPr algn="ctr">
              <a:defRPr sz="2700" b="1">
                <a:solidFill>
                  <a:srgbClr val="323232"/>
                </a:solidFill>
              </a:defRPr>
            </a:pPr>
            <a:r>
              <a:t>❓ 你能帮学校计算出这个三角形花坛的面积吗？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612648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100" i="1">
                <a:solidFill>
                  <a:srgbClr val="787878"/>
                </a:solidFill>
              </a:defRPr>
            </a:pPr>
            <a:r>
              <a:t>🎨 视觉建议：展示校园平面图，标注三角形花坛位置和尺寸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8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从长方形面积出发</a:t>
            </a:r>
          </a:p>
          <a:p>
            <a:pPr>
              <a:defRPr sz="2400"/>
            </a:pPr>
            <a:r>
              <a:t>两个完全相同的三角形拼成长方形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9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情境变式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改变问题背景，联系生活实际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0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公式推导（二）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长方形的长是三角形的底</a:t>
            </a:r>
          </a:p>
          <a:p>
            <a:pPr>
              <a:defRPr sz="2400"/>
            </a:pPr>
            <a:r>
              <a:t>长方形的宽是三角形的高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1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课堂练习（基础）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直接应用公式，巩固记忆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【★】三角形的面积公式是（    ）。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答案：底×高÷2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27AE60"/>
                </a:solidFill>
              </a:defRPr>
            </a:pPr>
            <a:r>
              <a:t>【★】一个三角形底10cm，高6cm，面积是（    ）平方厘米。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答案：30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2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3498DB"/>
                </a:solidFill>
              </a:defRPr>
            </a:pPr>
            <a:r>
              <a:t>例题精讲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已知：底6cm，高4cm</a:t>
            </a:r>
          </a:p>
          <a:p>
            <a:pPr>
              <a:defRPr sz="2400"/>
            </a:pPr>
            <a:r>
              <a:t>求：三角形面积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3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课堂练习（提高）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理解原理，简单变式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【★★】判断：两个三角形，只要底和高相同，面积就一定相同。（    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答案：正确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8346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9F43"/>
                </a:solidFill>
              </a:defRPr>
            </a:pPr>
            <a:r>
              <a:t>【★★】一个三角形面积是18平方分米，高是4分米，底是多少分米？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38328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答案：底=9分米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6" presetID="8" presetClass="entr" presetSubtype="0" fill="hold" nodeType="mainSeq">
          <p:dur val="400"/>
          <p:stM val="2500"/>
          <p:childTnLst>
            <ns2:parTimeNode id="105" fill="hold">
              <ns2:dur val="400"/>
              <ns2:stM val="0"/>
              <p:childTnLst>
                <ns2:setTimeNode id="205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7" presetID="8" presetClass="entr" presetSubtype="0" fill="hold" nodeType="mainSeq">
          <p:dur val="400"/>
          <p:stM val="3000"/>
          <p:childTnLst>
            <ns2:parTimeNode id="106" fill="hold">
              <ns2:dur val="400"/>
              <ns2:stM val="0"/>
              <p:childTnLst>
                <ns2:setTimeNode id="206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4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400">
                <a:solidFill>
                  <a:srgbClr val="3498DB"/>
                </a:solidFill>
              </a:defRPr>
            </a:pPr>
            <a:r>
              <a:t>总结回顾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 b="1"/>
            </a:pPr>
            <a:r>
              <a:t>本节课学习了三角形面积公式，通过拼图法推导出 S = (底 × 高) ÷ 2，并应用公式解决各种问题，体会了转化数学思想。</a:t>
            </a:r>
          </a:p>
          <a:p>
            <a:br/>
            <a:pPr>
              <a:defRPr sz="2400" b="1"/>
            </a:pPr>
            <a:r>
              <a:t>重点：</a:t>
            </a:r>
          </a:p>
          <a:p>
            <a:pPr>
              <a:defRPr sz="2400"/>
            </a:pPr>
            <a:r>
              <a:t>• 理解三角形面积公式的推导过程</a:t>
            </a:r>
          </a:p>
          <a:p>
            <a:pPr>
              <a:defRPr sz="2400"/>
            </a:pPr>
            <a:r>
              <a:t>• 掌握公式 S = (底 × 高) ÷ 2</a:t>
            </a:r>
          </a:p>
          <a:p>
            <a:pPr>
              <a:defRPr sz="2400"/>
            </a:pPr>
            <a:r>
              <a:t>• 正确应用公式解决实际问题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slides/slide15.xml><?xml version="1.0" encoding="utf-8"?>
<p:sld xmlns:a="http://schemas.openxmlformats.org/drawingml/2006/main" xmlns:ns2="%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solidFill>
                  <a:srgbClr val="448AFF"/>
                </a:solidFill>
              </a:defRPr>
            </a:pPr>
            <a:r>
              <a:t>课堂练习（拓展）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7315200" cy="3657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/>
          <a:p>
            <a:pPr>
              <a:defRPr sz="2400"/>
            </a:pPr>
            <a:r>
              <a:t>分析评价，综合应用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300" b="1">
                <a:solidFill>
                  <a:srgbClr val="FF6B6B"/>
                </a:solidFill>
              </a:defRPr>
            </a:pPr>
            <a:r>
              <a:t>【★★★】小明说：“我用两个完全相同的三角形拼成一个平行四边形，平行四边形的面积是三角形面积的2倍。”他说得对吗？为什么？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2377440"/>
            <a:ext cx="7772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200">
                <a:solidFill>
                  <a:srgbClr val="646464"/>
                </a:solidFill>
              </a:defRPr>
            </a:pPr>
            <a:r>
              <a:t>答案：对。因为平行四边形由两个相同三角形拼成，面积是单个三角形的2倍。</a:t>
            </a:r>
          </a:p>
        </p:txBody>
      </p:sp>
    </p:spTree>
    <p:transition spd="600">
      <p:push/>
    </p:transition>
    <p:timing>
      <p:timeNodeList>
        <p:parTimeNode id="1" presetID="8" presetClass="entr" presetSubtype="0" fill="hold" nodeType="mainSeq">
          <p:dur val="400"/>
          <p:stM val="0"/>
          <p:childTnLst>
            <ns2:parTimeNode id="100" fill="hold">
              <ns2:dur val="400"/>
              <ns2:stM val="0"/>
              <p:childTnLst>
                <ns2:setTimeNode id="200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2" presetID="8" presetClass="entr" presetSubtype="0" fill="hold" nodeType="mainSeq">
          <p:dur val="400"/>
          <p:stM val="500"/>
          <p:childTnLst>
            <ns2:parTimeNode id="101" fill="hold">
              <ns2:dur val="400"/>
              <ns2:stM val="0"/>
              <p:childTnLst>
                <ns2:setTimeNode id="201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3" presetID="8" presetClass="entr" presetSubtype="0" fill="hold" nodeType="mainSeq">
          <p:dur val="400"/>
          <p:stM val="1000"/>
          <p:childTnLst>
            <ns2:parTimeNode id="102" fill="hold">
              <ns2:dur val="400"/>
              <ns2:stM val="0"/>
              <p:childTnLst>
                <ns2:setTimeNode id="202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4" presetID="8" presetClass="entr" presetSubtype="0" fill="hold" nodeType="mainSeq">
          <p:dur val="400"/>
          <p:stM val="1500"/>
          <p:childTnLst>
            <ns2:parTimeNode id="103" fill="hold">
              <ns2:dur val="400"/>
              <ns2:stM val="0"/>
              <p:childTnLst>
                <ns2:setTimeNode id="203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  <p:parTimeNode id="5" presetID="8" presetClass="entr" presetSubtype="0" fill="hold" nodeType="mainSeq">
          <p:dur val="400"/>
          <p:stM val="2000"/>
          <p:childTnLst>
            <ns2:parTimeNode id="104" fill="hold">
              <ns2:dur val="400"/>
              <ns2:stM val="0"/>
              <p:childTnLst>
                <ns2:setTimeNode id="204">
                  <ns2:dur val="1"/>
                  <p:animValLst>
                    <ns2:animVal attrName="style" attrName2="p">
                      <ns2:valData valType="str">
                        <ns2:strVal val="visible"/>
                      </ns2:valData>
                    </ns2:animVal>
                  </p:animValLst>
                </ns2:setTimeNode>
              </p:childTnLst>
            </ns2:parTimeNode>
          </p:childTnLst>
        </p:parTimeNode>
      </p:timeNodeList>
    </p:timing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