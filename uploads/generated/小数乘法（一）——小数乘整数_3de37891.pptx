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400" b="1">
                <a:solidFill>
                  <a:srgbClr val="3498DB"/>
                </a:solidFill>
              </a:defRPr>
            </a:pPr>
            <a:r>
              <a:t>小数乘法（一）——小数乘整数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657600"/>
            <a:ext cx="54864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400">
                <a:solidFill>
                  <a:srgbClr val="808080"/>
                </a:solidFill>
              </a:defRPr>
            </a:pPr>
            <a:r>
              <a:t>AI 教学 PPT 生成器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2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>
                <a:solidFill>
                  <a:srgbClr val="448AFF"/>
                </a:solidFill>
              </a:defRPr>
            </a:pPr>
            <a:r>
              <a:t>目录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defRPr sz="2400"/>
            </a:pPr>
            <a:r>
              <a:t>1. 小数乘法（一）——小数乘整数</a:t>
            </a:r>
          </a:p>
          <a:p>
            <a:pPr>
              <a:defRPr sz="2400"/>
            </a:pPr>
            <a:r>
              <a:t>3. 小数乘整数的意义</a:t>
            </a:r>
          </a:p>
          <a:p>
            <a:pPr>
              <a:defRPr sz="2400"/>
            </a:pPr>
            <a:r>
              <a:t>4. 常见错误分析</a:t>
            </a:r>
          </a:p>
          <a:p>
            <a:pPr>
              <a:defRPr sz="2400"/>
            </a:pPr>
            <a:r>
              <a:t>5. 变式练习</a:t>
            </a:r>
          </a:p>
          <a:p>
            <a:pPr>
              <a:defRPr sz="2400"/>
            </a:pPr>
            <a:r>
              <a:t>6. 超市购物记</a:t>
            </a:r>
          </a:p>
          <a:p>
            <a:pPr>
              <a:defRPr sz="2400"/>
            </a:pPr>
            <a:r>
              <a:t>7. 小数乘整数的计算方法</a:t>
            </a:r>
          </a:p>
          <a:p>
            <a:pPr>
              <a:defRPr sz="2400"/>
            </a:pPr>
            <a:r>
              <a:t>8. 课堂练习</a:t>
            </a:r>
          </a:p>
          <a:p>
            <a:pPr>
              <a:defRPr sz="2400"/>
            </a:pPr>
            <a:r>
              <a:t>9. 例题精讲：买铅笔问题</a:t>
            </a:r>
          </a:p>
          <a:p>
            <a:pPr>
              <a:defRPr sz="2400"/>
            </a:pPr>
            <a:r>
              <a:t>10. 课堂小结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3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3498DB"/>
                </a:solidFill>
              </a:defRPr>
            </a:pPr>
            <a:r>
              <a:t>小数乘整数的意义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defRPr sz="2400"/>
            </a:pPr>
            <a:r>
              <a:t>意义：求几个相同小数加数的简便运算</a:t>
            </a:r>
          </a:p>
          <a:p>
            <a:pPr>
              <a:defRPr sz="2400"/>
            </a:pPr>
            <a:r>
              <a:t>直观模型：用线段图表示0.8×3</a:t>
            </a:r>
          </a:p>
          <a:p>
            <a:pPr>
              <a:defRPr sz="2400"/>
            </a:pPr>
            <a:r>
              <a:t>抽象：从加法0.8+0.8+0.8引出乘法0.8×3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4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FF6B6B"/>
                </a:solidFill>
              </a:defRPr>
            </a:pPr>
            <a:r>
              <a:t>常见错误分析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365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F6B6B"/>
                </a:solidFill>
              </a:defRPr>
            </a:pPr>
            <a:r>
              <a:t>❌ 常见错误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3657600" cy="4114800"/>
          </a:xfrm>
          <a:prstGeom prst="round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32918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200" b="1">
                <a:solidFill>
                  <a:srgbClr val="FF6B6B"/>
                </a:solidFill>
              </a:defRPr>
            </a:pPr>
            <a:r>
              <a:t>【错误示例】</a:t>
            </a:r>
          </a:p>
          <a:p>
            <a:pPr>
              <a:spcAft>
                <a:spcPts val="800"/>
              </a:spcAft>
              <a:defRPr sz="2400"/>
            </a:pPr>
            <a:r>
              <a:t>计算0.8×3时，写成0.8×3=24，忘记点小数点。</a:t>
            </a:r>
          </a:p>
          <a:p>
            <a:pPr>
              <a:defRPr sz="2200" b="1">
                <a:solidFill>
                  <a:srgbClr val="FF6B6B"/>
                </a:solidFill>
              </a:defRPr>
            </a:pPr>
            <a:r>
              <a:t>【错误原因】</a:t>
            </a:r>
          </a:p>
          <a:p>
            <a:pPr>
              <a:defRPr sz="2400"/>
            </a:pPr>
            <a:r>
              <a:t>学生只进行了整数乘法计算，忽略了小数因数的特性。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1097280"/>
            <a:ext cx="365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43A047"/>
                </a:solidFill>
              </a:defRPr>
            </a:pPr>
            <a:r>
              <a:t>✓ 正确方法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0" y="1645920"/>
            <a:ext cx="3657600" cy="4114800"/>
          </a:xfrm>
          <a:prstGeom prst="roundRect">
            <a:avLst/>
          </a:prstGeom>
          <a:solidFill>
            <a:srgbClr val="F0F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12080" y="1828800"/>
            <a:ext cx="32918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200" b="1">
                <a:solidFill>
                  <a:srgbClr val="43A047"/>
                </a:solidFill>
              </a:defRPr>
            </a:pPr>
            <a:r>
              <a:t>【正确解法】</a:t>
            </a:r>
          </a:p>
          <a:p>
            <a:pPr>
              <a:spcAft>
                <a:spcPts val="800"/>
              </a:spcAft>
              <a:defRPr sz="2400"/>
            </a:pPr>
            <a:r>
              <a:t>按法则：8×3=24，0.8有一位小数，从24右边起数一位点小数点得2.4。</a:t>
            </a:r>
          </a:p>
          <a:p>
            <a:pPr>
              <a:defRPr sz="2200" b="1">
                <a:solidFill>
                  <a:srgbClr val="43A047"/>
                </a:solidFill>
              </a:defRPr>
            </a:pPr>
            <a:r>
              <a:t>【预防策略】</a:t>
            </a:r>
          </a:p>
          <a:p>
            <a:pPr>
              <a:defRPr sz="2400"/>
            </a:pPr>
            <a:r>
              <a:t>养成习惯：先看小数位数，计算后立即点小数点；用加法验证。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4" presetID="8" presetClass="entr" presetSubtype="0" fill="hold" nodeType="mainSeq">
          <p:dur val="400"/>
          <p:stM val="1500"/>
          <p:childTnLst>
            <ns2:parTimeNode id="103" fill="hold">
              <ns2:dur val="400"/>
              <ns2:stM val="0"/>
              <p:childTnLst>
                <ns2:setTimeNode id="203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5" presetID="8" presetClass="entr" presetSubtype="0" fill="hold" nodeType="mainSeq">
          <p:dur val="400"/>
          <p:stM val="2000"/>
          <p:childTnLst>
            <ns2:parTimeNode id="104" fill="hold">
              <ns2:dur val="400"/>
              <ns2:stM val="0"/>
              <p:childTnLst>
                <ns2:setTimeNode id="204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6" presetID="8" presetClass="entr" presetSubtype="0" fill="hold" nodeType="mainSeq">
          <p:dur val="400"/>
          <p:stM val="2500"/>
          <p:childTnLst>
            <ns2:parTimeNode id="105" fill="hold">
              <ns2:dur val="400"/>
              <ns2:stM val="0"/>
              <p:childTnLst>
                <ns2:setTimeNode id="205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7" presetID="8" presetClass="entr" presetSubtype="0" fill="hold" nodeType="mainSeq">
          <p:dur val="400"/>
          <p:stM val="3000"/>
          <p:childTnLst>
            <ns2:parTimeNode id="106" fill="hold">
              <ns2:dur val="400"/>
              <ns2:stM val="0"/>
              <p:childTnLst>
                <ns2:setTimeNode id="206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5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448AFF"/>
                </a:solidFill>
              </a:defRPr>
            </a:pPr>
            <a:r>
              <a:t>变式练习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defRPr sz="2400"/>
            </a:pPr>
            <a:r>
              <a:t>基础变式：改变数字，巩固计算方法</a:t>
            </a:r>
          </a:p>
          <a:p>
            <a:pPr>
              <a:defRPr sz="2400"/>
            </a:pPr>
            <a:r>
              <a:t>情境变式：更换问题背景，如买水果</a:t>
            </a:r>
          </a:p>
          <a:p>
            <a:pPr>
              <a:defRPr sz="2400"/>
            </a:pPr>
            <a:r>
              <a:t>综合变式：结合单位换算，提升应用能力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6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3498DB"/>
                </a:solidFill>
              </a:defRPr>
            </a:pPr>
            <a:r>
              <a:t>超市购物记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448AFF"/>
                </a:solidFill>
              </a:defRPr>
            </a:pPr>
            <a:r>
              <a:t>🛒 购物消费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45920"/>
            <a:ext cx="8229600" cy="2286000"/>
          </a:xfrm>
          <a:prstGeom prst="rect">
            <a:avLst/>
          </a:prstGeom>
          <a:solidFill>
            <a:srgbClr val="3498DB"/>
          </a:solidFill>
          <a:ln w="254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 tIns="274320" bIns="274320"/>
          <a:lstStyle/>
          <a:p>
            <a:pPr algn="ctr">
              <a:defRPr sz="2500">
                <a:solidFill>
                  <a:srgbClr val="323232"/>
                </a:solidFill>
              </a:defRPr>
            </a:pPr>
            <a:r>
              <a:t>小明在超市选购文具，看到铅笔标价每支0.8元，他想买3支。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4114800"/>
            <a:ext cx="8229600" cy="1828800"/>
          </a:xfrm>
          <a:prstGeom prst="rect">
            <a:avLst/>
          </a:prstGeom>
          <a:solidFill>
            <a:srgbClr val="448AFF"/>
          </a:solidFill>
          <a:ln w="38100">
            <a:solidFill>
              <a:srgbClr val="448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 tIns="274320" bIns="274320"/>
          <a:lstStyle/>
          <a:p>
            <a:pPr algn="ctr">
              <a:defRPr sz="2700" b="1">
                <a:solidFill>
                  <a:srgbClr val="323232"/>
                </a:solidFill>
              </a:defRPr>
            </a:pPr>
            <a:r>
              <a:t>❓ 买3支铅笔一共需要多少钱？你能用乘法算式表示吗？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1264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100" i="1">
                <a:solidFill>
                  <a:srgbClr val="787878"/>
                </a:solidFill>
              </a:defRPr>
            </a:pPr>
            <a:r>
              <a:t>🎨 视觉建议：展示超市货架图片，铅笔价格标签特写，购物小票示意图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4" presetID="8" presetClass="entr" presetSubtype="0" fill="hold" nodeType="mainSeq">
          <p:dur val="400"/>
          <p:stM val="1500"/>
          <p:childTnLst>
            <ns2:parTimeNode id="103" fill="hold">
              <ns2:dur val="400"/>
              <ns2:stM val="0"/>
              <p:childTnLst>
                <ns2:setTimeNode id="203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5" presetID="8" presetClass="entr" presetSubtype="0" fill="hold" nodeType="mainSeq">
          <p:dur val="400"/>
          <p:stM val="2000"/>
          <p:childTnLst>
            <ns2:parTimeNode id="104" fill="hold">
              <ns2:dur val="400"/>
              <ns2:stM val="0"/>
              <p:childTnLst>
                <ns2:setTimeNode id="204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7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3498DB"/>
                </a:solidFill>
              </a:defRPr>
            </a:pPr>
            <a:r>
              <a:t>小数乘整数的计算方法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defRPr sz="2400"/>
            </a:pPr>
            <a:r>
              <a:t>步骤1：把小数乘整数转化为整数乘整数</a:t>
            </a:r>
          </a:p>
          <a:p>
            <a:pPr>
              <a:defRPr sz="2400"/>
            </a:pPr>
            <a:r>
              <a:t>步骤2：按整数乘法算出积</a:t>
            </a:r>
          </a:p>
          <a:p>
            <a:pPr>
              <a:defRPr sz="2400"/>
            </a:pPr>
            <a:r>
              <a:t>步骤3：确定积的小数位数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8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448AFF"/>
                </a:solidFill>
              </a:defRPr>
            </a:pPr>
            <a:r>
              <a:t>课堂练习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defRPr sz="2400"/>
            </a:pPr>
            <a:r>
              <a:t>基础题：直接计算，巩固法则</a:t>
            </a:r>
          </a:p>
          <a:p>
            <a:pPr>
              <a:defRPr sz="2400"/>
            </a:pPr>
            <a:r>
              <a:t>提高题：简单应用题，培养理解</a:t>
            </a:r>
          </a:p>
          <a:p>
            <a:pPr>
              <a:defRPr sz="2400"/>
            </a:pPr>
            <a:r>
              <a:t>拓展题：综合问题，提升分析能力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300" b="1">
                <a:solidFill>
                  <a:srgbClr val="27AE60"/>
                </a:solidFill>
              </a:defRPr>
            </a:pPr>
            <a:r>
              <a:t>【★】计算：0.7×5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37744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646464"/>
                </a:solidFill>
              </a:defRPr>
            </a:pPr>
            <a:r>
              <a:t>答案：3.5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8346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300" b="1">
                <a:solidFill>
                  <a:srgbClr val="FF9F43"/>
                </a:solidFill>
              </a:defRPr>
            </a:pPr>
            <a:r>
              <a:t>【★★】一支钢笔6.5元，买2支需要多少钱？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38328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646464"/>
                </a:solidFill>
              </a:defRPr>
            </a:pPr>
            <a:r>
              <a:t>答案：13.0元，化简为13元。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8404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300" b="1">
                <a:solidFill>
                  <a:srgbClr val="FF6B6B"/>
                </a:solidFill>
              </a:defRPr>
            </a:pPr>
            <a:r>
              <a:t>【★★★】小华跑步每分钟跑0.25千米，跑了8分钟，一共跑了多少千米？如果他想跑3千米，需要多少分钟？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3891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646464"/>
                </a:solidFill>
              </a:defRPr>
            </a:pPr>
            <a:r>
              <a:t>答案：2千米；12分钟。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4" presetID="8" presetClass="entr" presetSubtype="0" fill="hold" nodeType="mainSeq">
          <p:dur val="400"/>
          <p:stM val="1500"/>
          <p:childTnLst>
            <ns2:parTimeNode id="103" fill="hold">
              <ns2:dur val="400"/>
              <ns2:stM val="0"/>
              <p:childTnLst>
                <ns2:setTimeNode id="203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5" presetID="8" presetClass="entr" presetSubtype="0" fill="hold" nodeType="mainSeq">
          <p:dur val="400"/>
          <p:stM val="2000"/>
          <p:childTnLst>
            <ns2:parTimeNode id="104" fill="hold">
              <ns2:dur val="400"/>
              <ns2:stM val="0"/>
              <p:childTnLst>
                <ns2:setTimeNode id="204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6" presetID="8" presetClass="entr" presetSubtype="0" fill="hold" nodeType="mainSeq">
          <p:dur val="400"/>
          <p:stM val="2500"/>
          <p:childTnLst>
            <ns2:parTimeNode id="105" fill="hold">
              <ns2:dur val="400"/>
              <ns2:stM val="0"/>
              <p:childTnLst>
                <ns2:setTimeNode id="205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7" presetID="8" presetClass="entr" presetSubtype="0" fill="hold" nodeType="mainSeq">
          <p:dur val="400"/>
          <p:stM val="3000"/>
          <p:childTnLst>
            <ns2:parTimeNode id="106" fill="hold">
              <ns2:dur val="400"/>
              <ns2:stM val="0"/>
              <p:childTnLst>
                <ns2:setTimeNode id="206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8" presetID="8" presetClass="entr" presetSubtype="0" fill="hold" nodeType="mainSeq">
          <p:dur val="400"/>
          <p:stM val="3500"/>
          <p:childTnLst>
            <ns2:parTimeNode id="107" fill="hold">
              <ns2:dur val="400"/>
              <ns2:stM val="0"/>
              <p:childTnLst>
                <ns2:setTimeNode id="207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9" presetID="8" presetClass="entr" presetSubtype="0" fill="hold" nodeType="mainSeq">
          <p:dur val="400"/>
          <p:stM val="4000"/>
          <p:childTnLst>
            <ns2:parTimeNode id="108" fill="hold">
              <ns2:dur val="400"/>
              <ns2:stM val="0"/>
              <p:childTnLst>
                <ns2:setTimeNode id="208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9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3498DB"/>
                </a:solidFill>
              </a:defRPr>
            </a:pPr>
            <a:r>
              <a:t>例题精讲：买铅笔问题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defRPr sz="2400"/>
            </a:pPr>
            <a:r>
              <a:t>审题：已知每支铅笔0.8元，买3支</a:t>
            </a:r>
          </a:p>
          <a:p>
            <a:pPr>
              <a:defRPr sz="2400"/>
            </a:pPr>
            <a:r>
              <a:t>分析：求总价，用乘法0.8×3</a:t>
            </a:r>
          </a:p>
          <a:p>
            <a:pPr>
              <a:defRPr sz="2400"/>
            </a:pPr>
            <a:r>
              <a:t>解题：按法则计算，得2.4元</a:t>
            </a:r>
          </a:p>
          <a:p>
            <a:pPr>
              <a:defRPr sz="2400"/>
            </a:pPr>
            <a:r>
              <a:t>反思：检验方法，总结步骤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10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>
                <a:solidFill>
                  <a:srgbClr val="3498DB"/>
                </a:solidFill>
              </a:defRPr>
            </a:pPr>
            <a:r>
              <a:t>总结回顾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defRPr sz="2400" b="1"/>
            </a:pPr>
            <a:r>
              <a:t>本节课学习了小数乘整数的意义和计算方法，通过生活情境引入，从具体到抽象，掌握三步计算法则，并能应用解决实际问题，培养了转化思想和数形结合能力。</a:t>
            </a:r>
          </a:p>
          <a:p>
            <a:br/>
            <a:pPr>
              <a:defRPr sz="2400" b="1"/>
            </a:pPr>
            <a:r>
              <a:t>重点：</a:t>
            </a:r>
          </a:p>
          <a:p>
            <a:pPr>
              <a:defRPr sz="2400"/>
            </a:pPr>
            <a:r>
              <a:t>• 理解小数乘整数的意义是求几个相同小数加数的和</a:t>
            </a:r>
          </a:p>
          <a:p>
            <a:pPr>
              <a:defRPr sz="2400"/>
            </a:pPr>
            <a:r>
              <a:t>• 掌握计算法则：转化、计算、点小数点</a:t>
            </a:r>
          </a:p>
          <a:p>
            <a:pPr>
              <a:defRPr sz="2400"/>
            </a:pPr>
            <a:r>
              <a:t>• 能解决购物、测量等实际问题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