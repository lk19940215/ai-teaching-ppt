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3498DB"/>
                </a:solidFill>
              </a:defRPr>
            </a:pPr>
            <a:r>
              <a:t>三角形的面积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448AFF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1. 三角形的面积</a:t>
            </a:r>
          </a:p>
          <a:p>
            <a:pPr>
              <a:defRPr sz="2400"/>
            </a:pPr>
            <a:r>
              <a:t>3. 认识三角形</a:t>
            </a:r>
          </a:p>
          <a:p>
            <a:pPr>
              <a:defRPr sz="2400"/>
            </a:pPr>
            <a:r>
              <a:t>4. 易错点提醒</a:t>
            </a:r>
          </a:p>
          <a:p>
            <a:pPr>
              <a:defRPr sz="2400"/>
            </a:pPr>
            <a:r>
              <a:t>5. 变式练习</a:t>
            </a:r>
          </a:p>
          <a:p>
            <a:pPr>
              <a:defRPr sz="2400"/>
            </a:pPr>
            <a:r>
              <a:t>6. 校园里的数学</a:t>
            </a:r>
          </a:p>
          <a:p>
            <a:pPr>
              <a:defRPr sz="2400"/>
            </a:pPr>
            <a:r>
              <a:t>7. 三角形的底和高</a:t>
            </a:r>
          </a:p>
          <a:p>
            <a:pPr>
              <a:defRPr sz="2400"/>
            </a:pPr>
            <a:r>
              <a:t>8. 更多变式</a:t>
            </a:r>
          </a:p>
          <a:p>
            <a:pPr>
              <a:defRPr sz="2400"/>
            </a:pPr>
            <a:r>
              <a:t>9. 公式推导（一）</a:t>
            </a:r>
          </a:p>
          <a:p>
            <a:pPr>
              <a:defRPr sz="2400"/>
            </a:pPr>
            <a:r>
              <a:t>10. 课堂练习</a:t>
            </a:r>
          </a:p>
          <a:p>
            <a:pPr>
              <a:defRPr sz="2400"/>
            </a:pPr>
            <a:r>
              <a:t>11. 公式推导（二）</a:t>
            </a:r>
          </a:p>
          <a:p>
            <a:pPr>
              <a:defRPr sz="2400"/>
            </a:pPr>
            <a:r>
              <a:t>12. 例题精讲</a:t>
            </a:r>
          </a:p>
          <a:p>
            <a:pPr>
              <a:defRPr sz="2400"/>
            </a:pPr>
            <a:r>
              <a:t>13. 综合例题</a:t>
            </a:r>
          </a:p>
          <a:p>
            <a:pPr>
              <a:defRPr sz="2400"/>
            </a:pPr>
            <a:r>
              <a:t>14. 课堂小结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认识三角形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6B6B"/>
                </a:solidFill>
              </a:defRPr>
            </a:pPr>
            <a:r>
              <a:t>易错点提醒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6B6B"/>
                </a:solidFill>
              </a:defRPr>
            </a:pPr>
            <a:r>
              <a:t>❌ 常见错误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657600" cy="41148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FF6B6B"/>
                </a:solidFill>
              </a:defRPr>
            </a:pPr>
            <a:r>
              <a:t>【错误示例】</a:t>
            </a:r>
          </a:p>
          <a:p>
            <a:pPr>
              <a:spcAft>
                <a:spcPts val="800"/>
              </a:spcAft>
              <a:defRPr sz="2400"/>
            </a:pPr>
            <a:r>
              <a:t>面积 = 8 × 5 = 40（平方厘米），忘记除以2</a:t>
            </a:r>
          </a:p>
          <a:p>
            <a:pPr>
              <a:defRPr sz="2200" b="1">
                <a:solidFill>
                  <a:srgbClr val="FF6B6B"/>
                </a:solidFill>
              </a:defRPr>
            </a:pPr>
            <a:r>
              <a:t>【错误原因】</a:t>
            </a:r>
          </a:p>
          <a:p>
            <a:pPr>
              <a:defRPr sz="2400"/>
            </a:pPr>
            <a:r>
              <a:t>公式记忆不牢，或计算粗心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43A047"/>
                </a:solidFill>
              </a:defRPr>
            </a:pPr>
            <a:r>
              <a:t>✓ 正确方法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645920"/>
            <a:ext cx="3657600" cy="411480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43A047"/>
                </a:solidFill>
              </a:defRPr>
            </a:pPr>
            <a:r>
              <a:t>【正确解法】</a:t>
            </a:r>
          </a:p>
          <a:p>
            <a:pPr>
              <a:spcAft>
                <a:spcPts val="800"/>
              </a:spcAft>
              <a:defRPr sz="2400"/>
            </a:pPr>
            <a:r>
              <a:t>面积 = 8 × 5 ÷ 2 = 20（平方厘米）</a:t>
            </a:r>
          </a:p>
          <a:p>
            <a:pPr>
              <a:defRPr sz="2200" b="1">
                <a:solidFill>
                  <a:srgbClr val="43A047"/>
                </a:solidFill>
              </a:defRPr>
            </a:pPr>
            <a:r>
              <a:t>【预防策略】</a:t>
            </a:r>
          </a:p>
          <a:p>
            <a:pPr>
              <a:defRPr sz="2400"/>
            </a:pPr>
            <a:r>
              <a:t>熟记公式“底乘高除以2”，计算后检查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5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变式练习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6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498DB"/>
                </a:solidFill>
              </a:defRPr>
            </a:pPr>
            <a:r>
              <a:t>校园里的数学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48AFF"/>
                </a:solidFill>
              </a:defRPr>
            </a:pPr>
            <a:r>
              <a:t>💡 建筑设计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solidFill>
            <a:srgbClr val="3498DB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500">
                <a:solidFill>
                  <a:srgbClr val="323232"/>
                </a:solidFill>
              </a:defRPr>
            </a:pPr>
            <a:r>
              <a:t>学校要重新规划一块三角形的花坛，需要计算它的面积来购买草皮。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solidFill>
            <a:srgbClr val="448AFF"/>
          </a:solidFill>
          <a:ln w="38100">
            <a:solidFill>
              <a:srgbClr val="44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700" b="1">
                <a:solidFill>
                  <a:srgbClr val="323232"/>
                </a:solidFill>
              </a:defRPr>
            </a:pPr>
            <a:r>
              <a:t>❓ 如何计算这个三角形花坛的面积呢？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i="1">
                <a:solidFill>
                  <a:srgbClr val="787878"/>
                </a:solidFill>
              </a:defRPr>
            </a:pPr>
            <a:r>
              <a:t>🎨 视觉建议：展示校园平面图，突出三角形花坛区域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7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三角形的底和高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8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更多变式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9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公式推导（一）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0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【★】三角形的面积公式是什么？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答案：底 × 高 ÷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【★】一个三角形底7厘米，高3厘米，面积是多少平方厘米？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答案：10.5平方厘米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【★★】解释为什么三角形面积要除以2。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答案：因为两个完全一样的三角形可以拼成一个平行四边形，三角形面积是平行四边形面积的一半。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46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【★★】比较三角形和平行四边形面积公式的异同。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39495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答案：相同点：都涉及底和高；不同点：平行四边形面积是底乘高，三角形面积是底乘高除以2。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52159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6B6B"/>
                </a:solidFill>
              </a:defRPr>
            </a:pPr>
            <a:r>
              <a:t>【★★★】一个三角形面积是18平方米，高是6米，底是多少米？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640079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答案：6米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8" presetID="8" presetClass="entr" presetSubtype="0" fill="hold" nodeType="mainSeq">
          <p:dur val="400"/>
          <p:stM val="3500"/>
          <p:childTnLst>
            <ns2:parTimeNode id="107" fill="hold">
              <ns2:dur val="400"/>
              <ns2:stM val="0"/>
              <p:childTnLst>
                <ns2:setTimeNode id="207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9" presetID="8" presetClass="entr" presetSubtype="0" fill="hold" nodeType="mainSeq">
          <p:dur val="400"/>
          <p:stM val="4000"/>
          <p:childTnLst>
            <ns2:parTimeNode id="108" fill="hold">
              <ns2:dur val="400"/>
              <ns2:stM val="0"/>
              <p:childTnLst>
                <ns2:setTimeNode id="208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0" presetID="8" presetClass="entr" presetSubtype="0" fill="hold" nodeType="mainSeq">
          <p:dur val="400"/>
          <p:stM val="4500"/>
          <p:childTnLst>
            <ns2:parTimeNode id="109" fill="hold">
              <ns2:dur val="400"/>
              <ns2:stM val="0"/>
              <p:childTnLst>
                <ns2:setTimeNode id="209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1" presetID="8" presetClass="entr" presetSubtype="0" fill="hold" nodeType="mainSeq">
          <p:dur val="400"/>
          <p:stM val="5000"/>
          <p:childTnLst>
            <ns2:parTimeNode id="110" fill="hold">
              <ns2:dur val="400"/>
              <ns2:stM val="0"/>
              <p:childTnLst>
                <ns2:setTimeNode id="21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2" presetID="8" presetClass="entr" presetSubtype="0" fill="hold" nodeType="mainSeq">
          <p:dur val="400"/>
          <p:stM val="5500"/>
          <p:childTnLst>
            <ns2:parTimeNode id="111" fill="hold">
              <ns2:dur val="400"/>
              <ns2:stM val="0"/>
              <p:childTnLst>
                <ns2:setTimeNode id="21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3" presetID="8" presetClass="entr" presetSubtype="0" fill="hold" nodeType="mainSeq">
          <p:dur val="400"/>
          <p:stM val="6000"/>
          <p:childTnLst>
            <ns2:parTimeNode id="112" fill="hold">
              <ns2:dur val="400"/>
              <ns2:stM val="0"/>
              <p:childTnLst>
                <ns2:setTimeNode id="21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公式推导（二）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例题精讲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综合例题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3498DB"/>
                </a:solidFill>
              </a:defRPr>
            </a:pPr>
            <a:r>
              <a:t>总结回顾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 b="1"/>
            </a:pPr>
            <a:r>
              <a:t>本节课学习了三角形面积公式，通过生活情境引入，推导出公式，并应用于各种练习中，培养了学生的计算能力和数学思维。</a:t>
            </a:r>
          </a:p>
          <a:p>
            <a:br/>
            <a:pPr>
              <a:defRPr sz="2400" b="1"/>
            </a:pPr>
            <a:r>
              <a:t>重点：</a:t>
            </a:r>
          </a:p>
          <a:p>
            <a:pPr>
              <a:defRPr sz="2400"/>
            </a:pPr>
            <a:r>
              <a:t>• 理解三角形底和高的定义</a:t>
            </a:r>
          </a:p>
          <a:p>
            <a:pPr>
              <a:defRPr sz="2400"/>
            </a:pPr>
            <a:r>
              <a:t>• 掌握三角形面积公式及其推导</a:t>
            </a:r>
          </a:p>
          <a:p>
            <a:pPr>
              <a:defRPr sz="2400"/>
            </a:pPr>
            <a:r>
              <a:t>• 能正确计算三角形面积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