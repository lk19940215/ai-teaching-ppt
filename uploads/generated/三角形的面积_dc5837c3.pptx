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3498DB"/>
                </a:solidFill>
              </a:defRPr>
            </a:pPr>
            <a:r>
              <a:t>三角形的面积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448AFF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1. 三角形的面积</a:t>
            </a:r>
          </a:p>
          <a:p>
            <a:pPr>
              <a:defRPr sz="2400"/>
            </a:pPr>
            <a:r>
              <a:t>3. 认识三角形的面积</a:t>
            </a:r>
          </a:p>
          <a:p>
            <a:pPr>
              <a:defRPr sz="2400"/>
            </a:pPr>
            <a:r>
              <a:t>4. 常见错误</a:t>
            </a:r>
          </a:p>
          <a:p>
            <a:pPr>
              <a:defRPr sz="2400"/>
            </a:pPr>
            <a:r>
              <a:t>5. 三角形面积图示</a:t>
            </a:r>
          </a:p>
          <a:p>
            <a:pPr>
              <a:defRPr sz="2400"/>
            </a:pPr>
            <a:r>
              <a:t>6. 变式练习</a:t>
            </a:r>
          </a:p>
          <a:p>
            <a:pPr>
              <a:defRPr sz="2400"/>
            </a:pPr>
            <a:r>
              <a:t>7. 校园花坛的挑战</a:t>
            </a:r>
          </a:p>
          <a:p>
            <a:pPr>
              <a:defRPr sz="2400"/>
            </a:pPr>
            <a:r>
              <a:t>8. 公式推导（一）</a:t>
            </a:r>
          </a:p>
          <a:p>
            <a:pPr>
              <a:defRPr sz="2400"/>
            </a:pPr>
            <a:r>
              <a:t>9. 三角形面积计算示例</a:t>
            </a:r>
          </a:p>
          <a:p>
            <a:pPr>
              <a:defRPr sz="2400"/>
            </a:pPr>
            <a:r>
              <a:t>10. 课堂练习</a:t>
            </a:r>
          </a:p>
          <a:p>
            <a:pPr>
              <a:defRPr sz="2400"/>
            </a:pPr>
            <a:r>
              <a:t>11. 公式推导（二）</a:t>
            </a:r>
          </a:p>
          <a:p>
            <a:pPr>
              <a:defRPr sz="2400"/>
            </a:pPr>
            <a:r>
              <a:t>12. 更多练习</a:t>
            </a:r>
          </a:p>
          <a:p>
            <a:pPr>
              <a:defRPr sz="2400"/>
            </a:pPr>
            <a:r>
              <a:t>13. 例题：计算花坛面积</a:t>
            </a:r>
          </a:p>
          <a:p>
            <a:pPr>
              <a:defRPr sz="2400"/>
            </a:pPr>
            <a:r>
              <a:t>14. 课堂小结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认识三角形的面积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面积是平面图形所占平面的大小</a:t>
            </a:r>
          </a:p>
          <a:p>
            <a:pPr>
              <a:defRPr sz="2400"/>
            </a:pPr>
            <a:r>
              <a:t>三角形面积与它的底和高有关</a:t>
            </a:r>
          </a:p>
          <a:p>
            <a:pPr>
              <a:defRPr sz="2400"/>
            </a:pPr>
            <a:r>
              <a:t>通过拼图活动，探索三角形面积公式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6B6B"/>
                </a:solidFill>
              </a:defRPr>
            </a:pPr>
            <a:r>
              <a:t>常见错误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6B6B"/>
                </a:solidFill>
              </a:defRPr>
            </a:pPr>
            <a:r>
              <a:t>❌ 常见错误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657600" cy="41148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FF6B6B"/>
                </a:solidFill>
              </a:defRPr>
            </a:pPr>
            <a:r>
              <a:t>【错误示例】</a:t>
            </a:r>
          </a:p>
          <a:p>
            <a:pPr>
              <a:spcAft>
                <a:spcPts val="800"/>
              </a:spcAft>
              <a:defRPr sz="2400"/>
            </a:pPr>
            <a:r>
              <a:t>计算三角形面积时，忘记除以2，如 S = 8 × 5 = 40平方米。</a:t>
            </a:r>
          </a:p>
          <a:p>
            <a:pPr>
              <a:defRPr sz="2200" b="1">
                <a:solidFill>
                  <a:srgbClr val="FF6B6B"/>
                </a:solidFill>
              </a:defRPr>
            </a:pPr>
            <a:r>
              <a:t>【错误原因】</a:t>
            </a:r>
          </a:p>
          <a:p>
            <a:pPr>
              <a:defRPr sz="2400"/>
            </a:pPr>
            <a:r>
              <a:t>对公式记忆不牢，或急于计算忽略步骤。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43A047"/>
                </a:solidFill>
              </a:defRPr>
            </a:pPr>
            <a:r>
              <a:t>✓ 正确方法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645920"/>
            <a:ext cx="3657600" cy="41148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43A047"/>
                </a:solidFill>
              </a:defRPr>
            </a:pPr>
            <a:r>
              <a:t>【正确解法】</a:t>
            </a:r>
          </a:p>
          <a:p>
            <a:pPr>
              <a:spcAft>
                <a:spcPts val="800"/>
              </a:spcAft>
              <a:defRPr sz="2400"/>
            </a:pPr>
            <a:r>
              <a:t>S = 8 × 5 ÷ 2 = 20平方米</a:t>
            </a:r>
          </a:p>
          <a:p>
            <a:pPr>
              <a:defRPr sz="2200" b="1">
                <a:solidFill>
                  <a:srgbClr val="43A047"/>
                </a:solidFill>
              </a:defRPr>
            </a:pPr>
            <a:r>
              <a:t>【预防策略】</a:t>
            </a:r>
          </a:p>
          <a:p>
            <a:pPr>
              <a:defRPr sz="2400"/>
            </a:pPr>
            <a:r>
              <a:t>牢记公式“底乘高除以二”，计算后检查是否除以2。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5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>
                <a:solidFill>
                  <a:srgbClr val="3498DB"/>
                </a:solidFill>
              </a:defRPr>
            </a:pPr>
            <a:r>
              <a:t>三角形面积图示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6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变式练习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通过不同变式，巩固三角形面积计算</a:t>
            </a:r>
          </a:p>
          <a:p>
            <a:pPr>
              <a:defRPr sz="2400"/>
            </a:pPr>
            <a:r>
              <a:t>包含基础、提高、拓展三个难度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7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498DB"/>
                </a:solidFill>
              </a:defRPr>
            </a:pPr>
            <a:r>
              <a:t>校园花坛的挑战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48AFF"/>
                </a:solidFill>
              </a:defRPr>
            </a:pPr>
            <a:r>
              <a:t>💡 建筑设计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solidFill>
            <a:srgbClr val="3498D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500">
                <a:solidFill>
                  <a:srgbClr val="323232"/>
                </a:solidFill>
              </a:defRPr>
            </a:pPr>
            <a:r>
              <a:t>学校有一个三角形的花坛，需要计算面积来购买足够的土壤进行美化。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solidFill>
            <a:srgbClr val="448AFF"/>
          </a:solidFill>
          <a:ln w="38100">
            <a:solidFill>
              <a:srgbClr val="44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700" b="1">
                <a:solidFill>
                  <a:srgbClr val="323232"/>
                </a:solidFill>
              </a:defRPr>
            </a:pPr>
            <a:r>
              <a:t>❓ 如何计算这个三角形花坛的面积呢？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i="1">
                <a:solidFill>
                  <a:srgbClr val="787878"/>
                </a:solidFill>
              </a:defRPr>
            </a:pPr>
            <a:r>
              <a:t>🎨 视觉建议：展示一个三角形花坛的平面图，标注底和高。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8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公式推导（一）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回顾平行四边形的面积公式</a:t>
            </a:r>
          </a:p>
          <a:p>
            <a:pPr>
              <a:defRPr sz="2400"/>
            </a:pPr>
            <a:r>
              <a:t>用两个完全相同的三角形拼成平行四边形</a:t>
            </a:r>
          </a:p>
          <a:p>
            <a:pPr>
              <a:defRPr sz="2400"/>
            </a:pPr>
            <a:r>
              <a:t>观察拼成后的图形与原三角形的关系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9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>
                <a:solidFill>
                  <a:srgbClr val="448AFF"/>
                </a:solidFill>
              </a:defRPr>
            </a:pPr>
            <a:r>
              <a:t>三角形面积计算示例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0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完成以下练习题，巩固所学知识</a:t>
            </a:r>
          </a:p>
          <a:p>
            <a:pPr>
              <a:defRPr sz="2400"/>
            </a:pPr>
            <a:r>
              <a:t>题目涵盖不同认知层级和难度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【★】三角形的面积公式是什么？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答案：底 × 高 ÷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【★★】解释为什么三角形面积公式中要除以2。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答案：因为两个完全相同的三角形可以拼成一个平行四边形，三角形面积是平行四边形面积的一半。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【★】一个三角形的底是12厘米，高是9厘米，计算它的面积。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答案：S = 12 × 9 ÷ 2 = 54平方厘米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6B6B"/>
                </a:solidFill>
              </a:defRPr>
            </a:pPr>
            <a:r>
              <a:t>【★★★】比较三角形和平行四边形的面积公式，找出它们之间的关系。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39495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答案：三角形面积公式是底×高÷2，平行四边形面积公式是底×高；当三角形和平行四边形等底等高时，三角形面积是平行四边形面积的一半。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8" presetID="8" presetClass="entr" presetSubtype="0" fill="hold" nodeType="mainSeq">
          <p:dur val="400"/>
          <p:stM val="3500"/>
          <p:childTnLst>
            <ns2:parTimeNode id="107" fill="hold">
              <ns2:dur val="400"/>
              <ns2:stM val="0"/>
              <p:childTnLst>
                <ns2:setTimeNode id="207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9" presetID="8" presetClass="entr" presetSubtype="0" fill="hold" nodeType="mainSeq">
          <p:dur val="400"/>
          <p:stM val="4000"/>
          <p:childTnLst>
            <ns2:parTimeNode id="108" fill="hold">
              <ns2:dur val="400"/>
              <ns2:stM val="0"/>
              <p:childTnLst>
                <ns2:setTimeNode id="208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0" presetID="8" presetClass="entr" presetSubtype="0" fill="hold" nodeType="mainSeq">
          <p:dur val="400"/>
          <p:stM val="4500"/>
          <p:childTnLst>
            <ns2:parTimeNode id="109" fill="hold">
              <ns2:dur val="400"/>
              <ns2:stM val="0"/>
              <p:childTnLst>
                <ns2:setTimeNode id="209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1" presetID="8" presetClass="entr" presetSubtype="0" fill="hold" nodeType="mainSeq">
          <p:dur val="400"/>
          <p:stM val="5000"/>
          <p:childTnLst>
            <ns2:parTimeNode id="110" fill="hold">
              <ns2:dur val="400"/>
              <ns2:stM val="0"/>
              <p:childTnLst>
                <ns2:setTimeNode id="21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公式推导（二）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推导三角形面积公式</a:t>
            </a:r>
          </a:p>
          <a:p>
            <a:pPr>
              <a:defRPr sz="2400"/>
            </a:pPr>
            <a:r>
              <a:t>理解公式中“÷2”的含义</a:t>
            </a:r>
          </a:p>
          <a:p>
            <a:pPr>
              <a:defRPr sz="2400"/>
            </a:pPr>
            <a:r>
              <a:t>掌握公式的符号表示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更多练习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继续挑战，提升解题能力</a:t>
            </a:r>
          </a:p>
          <a:p>
            <a:pPr>
              <a:defRPr sz="2400"/>
            </a:pPr>
            <a:r>
              <a:t>包含不同难度和情境的题目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【★★】一个直角三角形的两条直角边分别是6米和8米，求面积。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答案：S = 6 × 8 ÷ 2 = 24平方米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6B6B"/>
                </a:solidFill>
              </a:defRPr>
            </a:pPr>
            <a:r>
              <a:t>【★★★】如果三角形面积是30平方厘米，高是6厘米，求底的长度。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答案：底 = 2 × 面积 ÷ 高 = 2 × 30 ÷ 6 = 10厘米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6B6B"/>
                </a:solidFill>
              </a:defRPr>
            </a:pPr>
            <a:r>
              <a:t>【★★★】评价：小明说“所有三角形的面积都可以用底乘高除以二计算”，你认为对吗？为什么？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答案：对，因为任何三角形都有底和对应的高，公式 S = 底 × 高 ÷ 2 普遍适用。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8" presetID="8" presetClass="entr" presetSubtype="0" fill="hold" nodeType="mainSeq">
          <p:dur val="400"/>
          <p:stM val="3500"/>
          <p:childTnLst>
            <ns2:parTimeNode id="107" fill="hold">
              <ns2:dur val="400"/>
              <ns2:stM val="0"/>
              <p:childTnLst>
                <ns2:setTimeNode id="207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9" presetID="8" presetClass="entr" presetSubtype="0" fill="hold" nodeType="mainSeq">
          <p:dur val="400"/>
          <p:stM val="4000"/>
          <p:childTnLst>
            <ns2:parTimeNode id="108" fill="hold">
              <ns2:dur val="400"/>
              <ns2:stM val="0"/>
              <p:childTnLst>
                <ns2:setTimeNode id="208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例题：计算花坛面积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已知三角形花坛的底是8米，高是5米</a:t>
            </a:r>
          </a:p>
          <a:p>
            <a:pPr>
              <a:defRPr sz="2400"/>
            </a:pPr>
            <a:r>
              <a:t>应用公式计算面积</a:t>
            </a:r>
          </a:p>
          <a:p>
            <a:pPr>
              <a:defRPr sz="2400"/>
            </a:pPr>
            <a:r>
              <a:t>规范书写解题过程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3498DB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 b="1"/>
            </a:pPr>
            <a:r>
              <a:t>本课从校园花坛情境引入，通过拼图活动推导出三角形面积公式，并讲解例题、变式练习和易错点，帮助学生掌握面积计算，培养空间观念和逻辑推理能力。</a:t>
            </a:r>
          </a:p>
          <a:p>
            <a:br/>
            <a:pPr>
              <a:defRPr sz="2400" b="1"/>
            </a:pPr>
            <a:r>
              <a:t>重点：</a:t>
            </a:r>
          </a:p>
          <a:p>
            <a:pPr>
              <a:defRPr sz="2400"/>
            </a:pPr>
            <a:r>
              <a:t>• 三角形面积公式：底×高÷2</a:t>
            </a:r>
          </a:p>
          <a:p>
            <a:pPr>
              <a:defRPr sz="2400"/>
            </a:pPr>
            <a:r>
              <a:t>• 公式推导：两个相同三角形拼成平行四边形</a:t>
            </a:r>
          </a:p>
          <a:p>
            <a:pPr>
              <a:defRPr sz="2400"/>
            </a:pPr>
            <a:r>
              <a:t>• 应用时注意底和高的对应关系</a:t>
            </a:r>
          </a:p>
          <a:p>
            <a:pPr>
              <a:defRPr sz="2400"/>
            </a:pPr>
            <a:r>
              <a:t>• 计算后检查单位和是否除以2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