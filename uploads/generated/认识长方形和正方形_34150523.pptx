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498DB"/>
                </a:solidFill>
              </a:defRPr>
            </a:pPr>
            <a:r>
              <a:t>认识长方形和正方形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1. 认识长方形和正方形</a:t>
            </a:r>
          </a:p>
          <a:p>
            <a:pPr>
              <a:defRPr sz="3000"/>
            </a:pPr>
            <a:r>
              <a:t>3. 认识新朋友：长方形</a:t>
            </a:r>
          </a:p>
          <a:p>
            <a:pPr>
              <a:defRPr sz="3000"/>
            </a:pPr>
            <a:r>
              <a:t>4. 易错点：小心别踩坑！</a:t>
            </a:r>
          </a:p>
          <a:p>
            <a:pPr>
              <a:defRPr sz="3000"/>
            </a:pPr>
            <a:r>
              <a:t>5. 变式练习：挑战升级</a:t>
            </a:r>
          </a:p>
          <a:p>
            <a:pPr>
              <a:defRPr sz="3000"/>
            </a:pPr>
            <a:r>
              <a:t>6. 图形王国运动会</a:t>
            </a:r>
          </a:p>
          <a:p>
            <a:pPr>
              <a:defRPr sz="3000"/>
            </a:pPr>
            <a:r>
              <a:t>7. 认识新朋友：正方形</a:t>
            </a:r>
          </a:p>
          <a:p>
            <a:pPr>
              <a:defRPr sz="3000"/>
            </a:pPr>
            <a:r>
              <a:t>8. 课堂练习：巩固新知</a:t>
            </a:r>
          </a:p>
          <a:p>
            <a:pPr>
              <a:defRPr sz="3000"/>
            </a:pPr>
            <a:r>
              <a:t>9. 长方形和正方形是亲戚</a:t>
            </a:r>
          </a:p>
          <a:p>
            <a:pPr>
              <a:defRPr sz="3000"/>
            </a:pPr>
            <a:r>
              <a:t>10. 课后小任务</a:t>
            </a:r>
          </a:p>
          <a:p>
            <a:pPr>
              <a:defRPr sz="3000"/>
            </a:pPr>
            <a:r>
              <a:t>11. 课堂小结：我的图形宝典</a:t>
            </a:r>
          </a:p>
          <a:p>
            <a:pPr>
              <a:defRPr sz="3000"/>
            </a:pPr>
            <a:r>
              <a:t>12. 例题：图形分类小能手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认识新朋友：长方形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观察：长方形长什么样？</a:t>
            </a:r>
          </a:p>
          <a:p>
            <a:pPr>
              <a:defRPr sz="3000"/>
            </a:pPr>
            <a:r>
              <a:t>发现：长方形有4条边，4个角。</a:t>
            </a:r>
          </a:p>
          <a:p>
            <a:pPr>
              <a:defRPr sz="3000"/>
            </a:pPr>
            <a:r>
              <a:t>特点：相对的两条边一样长。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易错点：小心别踩坑！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3000"/>
            </a:pPr>
            <a:r>
              <a:t>错误：认为“四条边都相等的图形就是正方形”。</a:t>
            </a:r>
          </a:p>
          <a:p>
            <a:pPr>
              <a:defRPr sz="28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3000"/>
            </a:pPr>
            <a:r>
              <a:t>只记住了正方形“四边相等”的特征，忘记了“四个角都是直角”这个同样重要的条件。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3000"/>
            </a:pPr>
            <a:r>
              <a:t>判断正方形必须同时满足两个条件：1. 四条边长度相等；2. 四个角都是直角。可以用三角板验证角。</a:t>
            </a:r>
          </a:p>
          <a:p>
            <a:pPr>
              <a:defRPr sz="28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3000"/>
            </a:pPr>
            <a:r>
              <a:t>记口诀：“方方正正正方形，四边相等直角明。”判断时，边和角两个条件都要检查。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变式练习：挑战升级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基础变式：改变图形的位置和大小。</a:t>
            </a:r>
          </a:p>
          <a:p>
            <a:pPr>
              <a:defRPr sz="3000"/>
            </a:pPr>
            <a:r>
              <a:t>情境变式：在生活场景中找图形。</a:t>
            </a:r>
          </a:p>
          <a:p>
            <a:pPr>
              <a:defRPr sz="3000"/>
            </a:pPr>
            <a:r>
              <a:t>综合变式：图形的组合与计数。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图形王国运动会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8AFF"/>
                </a:solidFill>
              </a:defRPr>
            </a:pPr>
            <a:r>
              <a:t>💡 游戏竞赛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100">
                <a:solidFill>
                  <a:srgbClr val="323232"/>
                </a:solidFill>
              </a:defRPr>
            </a:pPr>
            <a:r>
              <a:t>图形王国要举办运动会，需要搭建长方形的跑道和正方形的领奖台。小动物们正在为选择哪种形状的砖块而发愁。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300" b="1">
                <a:solidFill>
                  <a:srgbClr val="323232"/>
                </a:solidFill>
              </a:defRPr>
            </a:pPr>
            <a:r>
              <a:t>❓ 长方形和正方形的砖块有什么特点？我们怎么帮小动物们区分它们呢？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i="1">
                <a:solidFill>
                  <a:srgbClr val="787878"/>
                </a:solidFill>
              </a:defRPr>
            </a:pPr>
            <a:r>
              <a:t>🎨 视觉建议：展示一个简单的运动场草图，包含长方形跑道和正方形领奖台区域，旁边散落着长方形和正方形的砖块图片。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认识新朋友：正方形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观察：正方形和长方形像吗？</a:t>
            </a:r>
          </a:p>
          <a:p>
            <a:pPr>
              <a:defRPr sz="3000"/>
            </a:pPr>
            <a:r>
              <a:t>发现：正方形也有4条边，4个角。</a:t>
            </a:r>
          </a:p>
          <a:p>
            <a:pPr>
              <a:defRPr sz="3000"/>
            </a:pPr>
            <a:r>
              <a:t>特点：正方形的四条边都一样长！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课堂练习：巩固新知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独立完成下面的练习。</a:t>
            </a:r>
          </a:p>
          <a:p>
            <a:pPr>
              <a:defRPr sz="3000"/>
            </a:pPr>
            <a:r>
              <a:t>记得用上我们学到的知识哦！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【★】1. 长方形有（ ）条边，（ ）个角，这些角都是（ ）角。【记忆】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答案：4， 4， 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【★】2. 正方形的（ ）条边都相等。【记忆】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【★】3. 判断：正方形是特殊的长方形。（ ）【理解】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【★★】4. 选择题：下面物品的面，通常不是长方形的是（ ）。 A. 课本 B. 方巾 C. 门 D. 电视机屏幕【应用】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【★★】5. 操作题：在钉子板上围出一个长方形和一个正方形。【应用】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答案：（学生实际操作）围出的图形需满足：长方形对边钉子数相等，正方形四条边钉子数相等。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85799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6B6B"/>
                </a:solidFill>
              </a:defRPr>
            </a:pPr>
            <a:r>
              <a:t>【★★★】6. 一个四边形，它的四条边都相等，它一定是正方形吗？为什么？【分析】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406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答案：不一定。因为四边相等只是正方形的一个条件，还需要四个角都是直角。菱形也是四边相等，但角不一定是直角。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4" presetID="8" presetClass="entr" presetSubtype="0" fill="hold" nodeType="mainSeq">
          <p:dur val="400"/>
          <p:stM val="6500"/>
          <p:childTnLst>
            <ns2:parTimeNode id="113" fill="hold">
              <ns2:dur val="400"/>
              <ns2:stM val="0"/>
              <p:childTnLst>
                <ns2:setTimeNode id="21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5" presetID="8" presetClass="entr" presetSubtype="0" fill="hold" nodeType="mainSeq">
          <p:dur val="400"/>
          <p:stM val="7000"/>
          <p:childTnLst>
            <ns2:parTimeNode id="114" fill="hold">
              <ns2:dur val="400"/>
              <ns2:stM val="0"/>
              <p:childTnLst>
                <ns2:setTimeNode id="21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课后小任务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【寻找行动】回家找一找，家里有哪些物体的面是长方形或正方形？</a:t>
            </a:r>
          </a:p>
          <a:p>
            <a:pPr>
              <a:defRPr sz="3000"/>
            </a:pPr>
            <a:r>
              <a:t>【创意设计】用长方形和正方形的纸片，拼贴一幅美丽的画。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/>
            </a:pPr>
            <a:r>
              <a:t>本节课我们从生活情境出发，通过观察、比较、操作认识了长方形和正方形，掌握了它们的本质特征（边和角的关系），理解了正方形与长方形的包含关系，并学会了在生活中辨认和应用这些图形。</a:t>
            </a:r>
          </a:p>
          <a:p>
            <a:br/>
            <a:pPr>
              <a:defRPr sz="3000" b="1"/>
            </a:pPr>
            <a:r>
              <a:t>重点：</a:t>
            </a:r>
          </a:p>
          <a:p>
            <a:pPr>
              <a:defRPr sz="3000"/>
            </a:pPr>
            <a:r>
              <a:t>• 长方形和正方形都有4条边和4个角，且角都是直角。</a:t>
            </a:r>
          </a:p>
          <a:p>
            <a:pPr>
              <a:defRPr sz="3000"/>
            </a:pPr>
            <a:r>
              <a:t>• 长方形的对边长度相等。</a:t>
            </a:r>
          </a:p>
          <a:p>
            <a:pPr>
              <a:defRPr sz="3000"/>
            </a:pPr>
            <a:r>
              <a:t>• 正方形的四条边长度都相等。</a:t>
            </a:r>
          </a:p>
          <a:p>
            <a:pPr>
              <a:defRPr sz="3000"/>
            </a:pPr>
            <a:r>
              <a:t>• 正方形是特殊的长方形。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例题：图形分类小能手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题目：下面哪些图形是长方形？哪些是正方形？</a:t>
            </a:r>
          </a:p>
          <a:p>
            <a:pPr>
              <a:defRPr sz="3000"/>
            </a:pPr>
            <a:r>
              <a:t>思路：根据边和角的特点来判断。</a:t>
            </a:r>
          </a:p>
          <a:p>
            <a:pPr>
              <a:defRPr sz="3000"/>
            </a:pPr>
            <a:r>
              <a:t>解答：一起给图形找到家。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