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6B6B"/>
                </a:solidFill>
              </a:defRPr>
            </a:pPr>
            <a:r>
              <a:t>古诗《静夜思》鉴赏与学习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FFD700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1. 古诗《静夜思》鉴赏与学习</a:t>
            </a:r>
          </a:p>
          <a:p>
            <a:pPr>
              <a:defRPr sz="2400"/>
            </a:pPr>
            <a:r>
              <a:t>3. 生字学习：思、床、疑、举</a:t>
            </a:r>
          </a:p>
          <a:p>
            <a:pPr>
              <a:defRPr sz="2400"/>
            </a:pPr>
            <a:r>
              <a:t>4. 课堂练习：巩固与提升</a:t>
            </a:r>
          </a:p>
          <a:p>
            <a:pPr>
              <a:defRPr sz="2400"/>
            </a:pPr>
            <a:r>
              <a:t>5. 生字学习：望、低、故、乡</a:t>
            </a:r>
          </a:p>
          <a:p>
            <a:pPr>
              <a:defRPr sz="2400"/>
            </a:pPr>
            <a:r>
              <a:t>6. 古诗鉴赏：《静夜思》</a:t>
            </a:r>
          </a:p>
          <a:p>
            <a:pPr>
              <a:defRPr sz="2400"/>
            </a:pPr>
            <a:r>
              <a:t>7. 阅读理解：品味《静夜思》</a:t>
            </a:r>
          </a:p>
          <a:p>
            <a:pPr>
              <a:defRPr sz="2400"/>
            </a:pPr>
            <a:r>
              <a:t>8. 总结与作业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FF6B6B"/>
                </a:solidFill>
              </a:defRPr>
            </a:pPr>
            <a:r>
              <a:t>生字学习：思、床、疑、举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br/>
            <a:pPr algn="ctr">
              <a:defRPr sz="3400">
                <a:solidFill>
                  <a:srgbClr val="FF6B6B"/>
                </a:solidFill>
              </a:defRPr>
            </a:pPr>
            <a:r>
              <a:t>【思】</a:t>
            </a:r>
          </a:p>
          <a:p>
            <a:pPr>
              <a:defRPr sz="2400"/>
            </a:pPr>
            <a:r>
              <a:t>拼音：sī</a:t>
            </a:r>
          </a:p>
          <a:p>
            <a:pPr>
              <a:defRPr sz="2200"/>
            </a:pPr>
            <a:r>
              <a:t>部首：心  笔画：9</a:t>
            </a:r>
          </a:p>
          <a:p>
            <a:br/>
            <a:pPr>
              <a:defRPr sz="2400"/>
            </a:pPr>
            <a:r>
              <a:t>组词：思念, 思考, 思想</a:t>
            </a:r>
          </a:p>
          <a:p>
            <a:br/>
            <a:pPr>
              <a:defRPr sz="2400"/>
            </a:pPr>
            <a:r>
              <a:t>造句：</a:t>
            </a:r>
          </a:p>
          <a:p>
            <a:pPr lvl="1">
              <a:defRPr sz="2200"/>
            </a:pPr>
            <a:r>
              <a:t>  • 我思念远方的亲人。</a:t>
            </a:r>
          </a:p>
          <a:p>
            <a:pPr lvl="1">
              <a:defRPr sz="2200"/>
            </a:pPr>
            <a:r>
              <a:t>  • 我们要学会独立思考。</a:t>
            </a:r>
          </a:p>
          <a:p>
            <a:br/>
            <a:pPr>
              <a:defRPr sz="2200"/>
            </a:pPr>
            <a:r>
              <a:t>近义词：想, 念</a:t>
            </a:r>
          </a:p>
          <a:p>
            <a:pPr>
              <a:defRPr sz="2200"/>
            </a:pPr>
            <a:r>
              <a:t>反义词：忘, 弃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FFD700"/>
                </a:solidFill>
              </a:defRPr>
            </a:pPr>
            <a:r>
              <a:t>课堂练习：巩固与提升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【记忆】填空：床前____光，疑是地上____。</a:t>
            </a:r>
          </a:p>
          <a:p>
            <a:pPr>
              <a:defRPr sz="2400"/>
            </a:pPr>
            <a:r>
              <a:t>【理解】解释“举头望明月”中“举头”的意思。</a:t>
            </a:r>
          </a:p>
          <a:p>
            <a:pPr>
              <a:defRPr sz="2400"/>
            </a:pPr>
            <a:r>
              <a:t>【应用】用“思念”造一个句子。</a:t>
            </a:r>
          </a:p>
          <a:p>
            <a:pPr>
              <a:defRPr sz="2400"/>
            </a:pPr>
            <a:r>
              <a:t>【分析】比较《静夜思》中“明月光”和“地上霜”的异同。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FF6B6B"/>
                </a:solidFill>
              </a:defRPr>
            </a:pPr>
            <a:r>
              <a:t>生字学习：望、低、故、乡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br/>
            <a:pPr algn="ctr">
              <a:defRPr sz="3400">
                <a:solidFill>
                  <a:srgbClr val="FF6B6B"/>
                </a:solidFill>
              </a:defRPr>
            </a:pPr>
            <a:r>
              <a:t>【望】</a:t>
            </a:r>
          </a:p>
          <a:p>
            <a:pPr>
              <a:defRPr sz="2400"/>
            </a:pPr>
            <a:r>
              <a:t>拼音：wàng</a:t>
            </a:r>
          </a:p>
          <a:p>
            <a:pPr>
              <a:defRPr sz="2200"/>
            </a:pPr>
            <a:r>
              <a:t>部首：月  笔画：11</a:t>
            </a:r>
          </a:p>
          <a:p>
            <a:br/>
            <a:pPr>
              <a:defRPr sz="2400"/>
            </a:pPr>
            <a:r>
              <a:t>组词：希望, 仰望, 望远镜</a:t>
            </a:r>
          </a:p>
          <a:p>
            <a:br/>
            <a:pPr>
              <a:defRPr sz="2400"/>
            </a:pPr>
            <a:r>
              <a:t>造句：</a:t>
            </a:r>
          </a:p>
          <a:p>
            <a:pPr lvl="1">
              <a:defRPr sz="2200"/>
            </a:pPr>
            <a:r>
              <a:t>  • 我仰望星空，充满希望。</a:t>
            </a:r>
          </a:p>
          <a:p>
            <a:pPr lvl="1">
              <a:defRPr sz="2200"/>
            </a:pPr>
            <a:r>
              <a:t>  • 他望着远方，若有所思。</a:t>
            </a:r>
          </a:p>
          <a:p>
            <a:br/>
            <a:pPr>
              <a:defRPr sz="2200"/>
            </a:pPr>
            <a:r>
              <a:t>近义词：看, 眺</a:t>
            </a:r>
          </a:p>
          <a:p>
            <a:pPr>
              <a:defRPr sz="2200"/>
            </a:pPr>
            <a:r>
              <a:t>反义词：闭, 遮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FF6B6B"/>
                </a:solidFill>
              </a:defRPr>
            </a:pPr>
            <a:r>
              <a:t>古诗鉴赏：《静夜思》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600">
                <a:solidFill>
                  <a:srgbClr val="FFD700"/>
                </a:solidFill>
              </a:defRPr>
            </a:pPr>
            <a:r>
              <a:t>静夜思  【唐代】李白</a:t>
            </a:r>
          </a:p>
          <a:p>
            <a:pPr algn="ctr">
              <a:defRPr sz="2800"/>
            </a:pPr>
            <a:r>
              <a:t>床前明月光</a:t>
            </a:r>
            <a:br/>
            <a:r>
              <a:t>疑是地上霜</a:t>
            </a:r>
            <a:br/>
            <a:r>
              <a:t>举头望明月</a:t>
            </a:r>
            <a:br/>
            <a:r>
              <a:t>低头思故乡</a:t>
            </a:r>
            <a:br/>
          </a:p>
          <a:p>
            <a:br/>
            <a:pPr>
              <a:defRPr sz="2200">
                <a:solidFill>
                  <a:srgbClr val="808080"/>
                </a:solidFill>
              </a:defRPr>
            </a:pPr>
            <a:r>
              <a:t>朗读节奏：床前/明月/光，疑是/地上/霜。举头/望/明月，低头/思/故乡。</a:t>
            </a:r>
          </a:p>
          <a:p>
            <a:br/>
            <a:pPr>
              <a:defRPr sz="2400"/>
            </a:pPr>
            <a:r>
              <a:t>【赏析】语言朴素自然，意境深远，通过月光、霜、明月等意象，营造出静谧思乡的氛围，体现了李白诗歌的清新飘逸风格。</a:t>
            </a:r>
          </a:p>
          <a:p>
            <a:br/>
            <a:pPr>
              <a:defRPr sz="2400"/>
            </a:pPr>
            <a:r>
              <a:t>【主旨】表达诗人深夜独处时对故乡的深切思念之情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FF6B6B"/>
                </a:solidFill>
              </a:defRPr>
            </a:pPr>
            <a:r>
              <a:t>阅读理解：品味《静夜思》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/>
            </a:pPr>
            <a:r>
              <a:t>【段落】床前明月光，疑是地上霜。举头望明月，低头思故乡。</a:t>
            </a:r>
          </a:p>
          <a:p>
            <a:br/>
            <a:pPr>
              <a:defRPr sz="2400"/>
            </a:pPr>
            <a:r>
              <a:t>【层次】第一层（前两句）：描写夜景，月光如霜；第二层（后两句）：触景生情，思念故乡。</a:t>
            </a:r>
          </a:p>
          <a:p>
            <a:br/>
            <a:pPr>
              <a:defRPr sz="2400">
                <a:solidFill>
                  <a:srgbClr val="FF6B6B"/>
                </a:solidFill>
              </a:defRPr>
            </a:pPr>
            <a:r>
              <a:t>【关键句】疑是地上霜</a:t>
            </a:r>
          </a:p>
          <a:p>
            <a:br/>
            <a:pPr>
              <a:defRPr sz="2200"/>
            </a:pPr>
            <a:r>
              <a:t>【修辞】比喻（将月光比作霜），生动形象地写出了月光的皎洁和清冷。</a:t>
            </a:r>
          </a:p>
          <a:p>
            <a:br/>
            <a:pPr>
              <a:defRPr sz="2400">
                <a:solidFill>
                  <a:srgbClr val="800080"/>
                </a:solidFill>
              </a:defRPr>
            </a:pPr>
            <a:r>
              <a:t>【主题】主题思想：表达游子在外对故乡的深深眷恋和孤独感。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FF6B6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/>
            </a:pPr>
            <a:r>
              <a:t>本节课学习了李白的《静夜思》，通过生字学习、古诗鉴赏和阅读理解，学生掌握了语言文字运用，并感悟了诗歌中的人文情感，培养了文化自信和思乡情怀。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掌握生字“思、床、疑、举、望、低、故、乡”的音形义</a:t>
            </a:r>
          </a:p>
          <a:p>
            <a:pPr>
              <a:defRPr sz="2400"/>
            </a:pPr>
            <a:r>
              <a:t>• 理解《静夜思》的诗歌意境和思乡主题</a:t>
            </a:r>
          </a:p>
          <a:p>
            <a:pPr>
              <a:defRPr sz="2400"/>
            </a:pPr>
            <a:r>
              <a:t>• 学会通过朗读和赏析提升古诗鉴赏能力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