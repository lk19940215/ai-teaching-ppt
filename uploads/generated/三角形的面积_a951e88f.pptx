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9F43"/>
                </a:solidFill>
              </a:defRPr>
            </a:pPr>
            <a:r>
              <a:t>三角形的面积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66CDAA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1. 三角形的面积</a:t>
            </a:r>
          </a:p>
          <a:p>
            <a:pPr>
              <a:defRPr sz="2400"/>
            </a:pPr>
            <a:r>
              <a:t>3. 认识三角形的底和高</a:t>
            </a:r>
          </a:p>
          <a:p>
            <a:pPr>
              <a:defRPr sz="2400"/>
            </a:pPr>
            <a:r>
              <a:t>4. 避坑指南</a:t>
            </a:r>
          </a:p>
          <a:p>
            <a:pPr>
              <a:defRPr sz="2400"/>
            </a:pPr>
            <a:r>
              <a:t>5. 小试牛刀</a:t>
            </a:r>
          </a:p>
          <a:p>
            <a:pPr>
              <a:defRPr sz="2400"/>
            </a:pPr>
            <a:r>
              <a:t>6. 红领巾的“烦恼”</a:t>
            </a:r>
          </a:p>
          <a:p>
            <a:pPr>
              <a:defRPr sz="2400"/>
            </a:pPr>
            <a:r>
              <a:t>7. 面积公式的由来（一）</a:t>
            </a:r>
          </a:p>
          <a:p>
            <a:pPr>
              <a:defRPr sz="2400"/>
            </a:pPr>
            <a:r>
              <a:t>8. 思维拓展</a:t>
            </a:r>
          </a:p>
          <a:p>
            <a:pPr>
              <a:defRPr sz="2400"/>
            </a:pPr>
            <a:r>
              <a:t>9. 面积公式的由来（二）</a:t>
            </a:r>
          </a:p>
          <a:p>
            <a:pPr>
              <a:defRPr sz="2400"/>
            </a:pPr>
            <a:r>
              <a:t>10. 巩固练习（统一模式）</a:t>
            </a:r>
          </a:p>
          <a:p>
            <a:pPr>
              <a:defRPr sz="2400"/>
            </a:pPr>
            <a:r>
              <a:t>11. 例题精讲：基本应用</a:t>
            </a:r>
          </a:p>
          <a:p>
            <a:pPr>
              <a:defRPr sz="2400"/>
            </a:pPr>
            <a:r>
              <a:t>12. 例题精讲：寻找隐藏的高</a:t>
            </a:r>
          </a:p>
          <a:p>
            <a:pPr>
              <a:defRPr sz="2400"/>
            </a:pPr>
            <a:r>
              <a:t>13. 课堂小结</a:t>
            </a:r>
          </a:p>
          <a:p>
            <a:pPr>
              <a:defRPr sz="2400"/>
            </a:pPr>
            <a:r>
              <a:t>14. 课后思考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FF9F43"/>
                </a:solidFill>
              </a:defRPr>
            </a:pPr>
            <a:r>
              <a:t>认识三角形的底和高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6B6B"/>
                </a:solidFill>
              </a:defRPr>
            </a:pPr>
            <a:r>
              <a:t>避坑指南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6B6B"/>
                </a:solidFill>
              </a:defRPr>
            </a:pPr>
            <a:r>
              <a:t>❌ 常见错误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57600" cy="41148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FF6B6B"/>
                </a:solidFill>
              </a:defRPr>
            </a:pPr>
            <a:r>
              <a:t>【错误示例】</a:t>
            </a:r>
          </a:p>
          <a:p>
            <a:pPr>
              <a:spcAft>
                <a:spcPts val="800"/>
              </a:spcAft>
              <a:defRPr sz="2400"/>
            </a:pPr>
            <a:r>
              <a:t>错误：计算三角形面积时，底是6cm，斜边上的线段长5cm，用6×5÷2计算面积。</a:t>
            </a:r>
          </a:p>
          <a:p>
            <a:pPr>
              <a:defRPr sz="2200" b="1">
                <a:solidFill>
                  <a:srgbClr val="FF6B6B"/>
                </a:solidFill>
              </a:defRPr>
            </a:pPr>
            <a:r>
              <a:t>【错误原因】</a:t>
            </a:r>
          </a:p>
          <a:p>
            <a:pPr>
              <a:defRPr sz="2400"/>
            </a:pPr>
            <a:r>
              <a:t>误把不是垂直关系的斜边线段当成了高。高必须是底边上的垂直线段。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43A047"/>
                </a:solidFill>
              </a:defRPr>
            </a:pPr>
            <a:r>
              <a:t>✓ 正确方法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3657600" cy="41148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43A047"/>
                </a:solidFill>
              </a:defRPr>
            </a:pPr>
            <a:r>
              <a:t>【正确解法】</a:t>
            </a:r>
          </a:p>
          <a:p>
            <a:pPr>
              <a:spcAft>
                <a:spcPts val="800"/>
              </a:spcAft>
              <a:defRPr sz="2400"/>
            </a:pPr>
            <a:r>
              <a:t>必须找到或画出底边对应的真正的高（垂线段），再代入公式计算。</a:t>
            </a:r>
          </a:p>
          <a:p>
            <a:pPr>
              <a:defRPr sz="2200" b="1">
                <a:solidFill>
                  <a:srgbClr val="43A047"/>
                </a:solidFill>
              </a:defRPr>
            </a:pPr>
            <a:r>
              <a:t>【预防策略】</a:t>
            </a:r>
          </a:p>
          <a:p>
            <a:pPr>
              <a:defRPr sz="2400"/>
            </a:pPr>
            <a:r>
              <a:t>做题时，养成习惯先确认找到的“高”是否与“底”垂直。可以在图上标出直角符号。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5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66CDAA"/>
                </a:solidFill>
              </a:defRPr>
            </a:pPr>
            <a:r>
              <a:t>小试牛刀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6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9F43"/>
                </a:solidFill>
              </a:defRPr>
            </a:pPr>
            <a:r>
              <a:t>红领巾的“烦恼”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66CDAA"/>
                </a:solidFill>
              </a:defRPr>
            </a:pPr>
            <a:r>
              <a:t>🛒 购物消费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FF9F43"/>
          </a:solidFill>
          <a:ln w="254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500">
                <a:solidFill>
                  <a:srgbClr val="323232"/>
                </a:solidFill>
              </a:defRPr>
            </a:pPr>
            <a:r>
              <a:t>学校要为一年级新生制作红领巾。每一条红领巾都是等腰三角形。采购布料时，需要知道每一条红领巾需要多大面积的布料。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66CDAA"/>
          </a:solidFill>
          <a:ln w="381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700" b="1">
                <a:solidFill>
                  <a:srgbClr val="323232"/>
                </a:solidFill>
              </a:defRPr>
            </a:pPr>
            <a:r>
              <a:t>❓ 如何计算一条红领巾（三角形）的面积呢？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i="1">
                <a:solidFill>
                  <a:srgbClr val="787878"/>
                </a:solidFill>
              </a:defRPr>
            </a:pPr>
            <a:r>
              <a:t>🎨 视觉建议：展示一条红领巾的图片，旁边标注“底边”和“高”的线段。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7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FF9F43"/>
                </a:solidFill>
              </a:defRPr>
            </a:pPr>
            <a:r>
              <a:t>面积公式的由来（一）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8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66CDAA"/>
                </a:solidFill>
              </a:defRPr>
            </a:pPr>
            <a:r>
              <a:t>思维拓展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9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FF9F43"/>
                </a:solidFill>
              </a:defRPr>
            </a:pPr>
            <a:r>
              <a:t>面积公式的由来（二）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0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66CDAA"/>
                </a:solidFill>
              </a:defRPr>
            </a:pPr>
            <a:r>
              <a:t>巩固练习（统一模式）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【★】1. 填空：三角形的面积 = ( ) × ( ) ÷ ( )。【记忆】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答案：底， 高，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【★】2. 判断：两个面积相等的三角形，一定能拼成一个平行四边形。 ( )【理解】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【★】3. 计算下面三角形的面积。（单位：厘米）【应用】</a:t>
            </a:r>
            <a:br/>
            <a:r>
              <a:t>（图示一个底为10cm，高为7cm的三角形）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答案：S = 10 × 7 ÷ 2 = 35 (平方厘米)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【★★】4. 一块三角形菜地，底是25米，高是16米。如果每平方米收青菜3千克，这块地一共可以收青菜多少千克？【应用】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39495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答案：菜地面积：25×16÷2=200(平方米)。收菜：200×3=600(千克)。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52159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【★★★】5. 下图中，平行四边形ABCD的面积是48平方厘米。E是BC边上的中点。求三角形ABE的面积。【分析】</a:t>
            </a:r>
            <a:br/>
            <a:r>
              <a:t>（图示：平行四边形ABCD，连接AE，E在BC中点）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640079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答案：12平方厘米。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8" presetID="8" presetClass="entr" presetSubtype="0" fill="hold" nodeType="mainSeq">
          <p:dur val="400"/>
          <p:stM val="3500"/>
          <p:childTnLst>
            <ns2:parTimeNode id="107" fill="hold">
              <ns2:dur val="400"/>
              <ns2:stM val="0"/>
              <p:childTnLst>
                <ns2:setTimeNode id="207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9" presetID="8" presetClass="entr" presetSubtype="0" fill="hold" nodeType="mainSeq">
          <p:dur val="400"/>
          <p:stM val="4000"/>
          <p:childTnLst>
            <ns2:parTimeNode id="108" fill="hold">
              <ns2:dur val="400"/>
              <ns2:stM val="0"/>
              <p:childTnLst>
                <ns2:setTimeNode id="208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0" presetID="8" presetClass="entr" presetSubtype="0" fill="hold" nodeType="mainSeq">
          <p:dur val="400"/>
          <p:stM val="4500"/>
          <p:childTnLst>
            <ns2:parTimeNode id="109" fill="hold">
              <ns2:dur val="400"/>
              <ns2:stM val="0"/>
              <p:childTnLst>
                <ns2:setTimeNode id="209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1" presetID="8" presetClass="entr" presetSubtype="0" fill="hold" nodeType="mainSeq">
          <p:dur val="400"/>
          <p:stM val="5000"/>
          <p:childTnLst>
            <ns2:parTimeNode id="110" fill="hold">
              <ns2:dur val="400"/>
              <ns2:stM val="0"/>
              <p:childTnLst>
                <ns2:setTimeNode id="21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2" presetID="8" presetClass="entr" presetSubtype="0" fill="hold" nodeType="mainSeq">
          <p:dur val="400"/>
          <p:stM val="5500"/>
          <p:childTnLst>
            <ns2:parTimeNode id="111" fill="hold">
              <ns2:dur val="400"/>
              <ns2:stM val="0"/>
              <p:childTnLst>
                <ns2:setTimeNode id="21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3" presetID="8" presetClass="entr" presetSubtype="0" fill="hold" nodeType="mainSeq">
          <p:dur val="400"/>
          <p:stM val="6000"/>
          <p:childTnLst>
            <ns2:parTimeNode id="112" fill="hold">
              <ns2:dur val="400"/>
              <ns2:stM val="0"/>
              <p:childTnLst>
                <ns2:setTimeNode id="21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FF9F43"/>
                </a:solidFill>
              </a:defRPr>
            </a:pPr>
            <a:r>
              <a:t>例题精讲：基本应用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FF9F43"/>
                </a:solidFill>
              </a:defRPr>
            </a:pPr>
            <a:r>
              <a:t>例题精讲：寻找隐藏的高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FF9F43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/>
            </a:pPr>
            <a:r>
              <a:t>本节课我们通过“拼图”的方法，将三角形转化为平行四边形，推导出了三角形面积的计算公式 S = a × h ÷ 2。学习的核心是理解“对应的底和高”，并能正确运用公式解决实际问题，体会转化的数学思想。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三角形面积公式的推导过程。</a:t>
            </a:r>
          </a:p>
          <a:p>
            <a:pPr>
              <a:defRPr sz="2400"/>
            </a:pPr>
            <a:r>
              <a:t>• 理解“对应的底和高”的含义。</a:t>
            </a:r>
          </a:p>
          <a:p>
            <a:pPr>
              <a:defRPr sz="2400"/>
            </a:pPr>
            <a:r>
              <a:t>• 熟练运用公式进行计算和简单逆用。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FF9F43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/>
            </a:pPr>
            <a:r>
              <a:t>本节课我们通过“拼图”的方法，将三角形转化为平行四边形，推导出了三角形面积的计算公式 S = a × h ÷ 2。学习的核心是理解“对应的底和高”，并能正确运用公式解决实际问题，体会转化的数学思想。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三角形面积公式的推导过程。</a:t>
            </a:r>
          </a:p>
          <a:p>
            <a:pPr>
              <a:defRPr sz="2400"/>
            </a:pPr>
            <a:r>
              <a:t>• 理解“对应的底和高”的含义。</a:t>
            </a:r>
          </a:p>
          <a:p>
            <a:pPr>
              <a:defRPr sz="2400"/>
            </a:pPr>
            <a:r>
              <a:t>• 熟练运用公式进行计算和简单逆用。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